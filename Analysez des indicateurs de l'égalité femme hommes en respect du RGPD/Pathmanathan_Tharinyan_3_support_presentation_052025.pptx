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FFFFFF"/>
        </a:solidFill>
        <a:effectLst/>
        <a:uFillTx/>
        <a:latin typeface="Montserrat"/>
        <a:ea typeface="Montserrat"/>
        <a:cs typeface="Montserrat"/>
        <a:sym typeface="Montserra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7500"/>
            </a:lvl1pPr>
          </a:lstStyle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i="0" sz="28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i="0" sz="28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i="0" sz="28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i="0" sz="28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i="0" sz="28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Texte du titre</a:t>
            </a:r>
          </a:p>
        </p:txBody>
      </p:sp>
      <p:sp>
        <p:nvSpPr>
          <p:cNvPr id="3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8" name="Texte niveau 1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i="0" sz="14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965200" indent="-355600">
              <a:buSzPts val="1400"/>
              <a:defRPr i="0" sz="14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1422400" indent="-355600">
              <a:buSzPts val="1400"/>
              <a:defRPr i="0" sz="14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1879600" indent="-355600">
              <a:buSzPts val="1400"/>
              <a:defRPr i="0" sz="14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2336800" indent="-355600">
              <a:buSzPts val="1400"/>
              <a:defRPr i="0" sz="14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9" name="Google Shape;23;p13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marL="706664" indent="-566964">
              <a:buSzPts val="2500"/>
              <a:defRPr i="0" sz="2500">
                <a:solidFill>
                  <a:schemeClr val="accent2">
                    <a:lumOff val="21764"/>
                  </a:schemeClr>
                </a:solidFill>
              </a:defRPr>
            </a:pP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e du titre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Texte du titre</a:t>
            </a:r>
          </a:p>
        </p:txBody>
      </p:sp>
      <p:sp>
        <p:nvSpPr>
          <p:cNvPr id="56" name="Texte niveau 1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i="0" sz="12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914400" indent="-304800">
              <a:buSzPts val="1200"/>
              <a:defRPr i="0" sz="12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1371600" indent="-304800">
              <a:buSzPts val="1200"/>
              <a:defRPr i="0" sz="12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1828800" indent="-304800">
              <a:buSzPts val="1200"/>
              <a:defRPr i="0" sz="12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2286000" indent="-304800">
              <a:buSzPts val="1200"/>
              <a:defRPr i="0" sz="12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e du titre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Texte du titre</a:t>
            </a:r>
          </a:p>
        </p:txBody>
      </p:sp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17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73" name="Texte du titre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Texte du titre</a:t>
            </a:r>
          </a:p>
        </p:txBody>
      </p:sp>
      <p:sp>
        <p:nvSpPr>
          <p:cNvPr id="74" name="Texte niveau 1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i="0" sz="21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i="0" sz="21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i="0" sz="21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i="0" sz="21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i="0" sz="21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5" name="Google Shape;39;p17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>
              <a:defRPr i="0">
                <a:solidFill>
                  <a:schemeClr val="accent2">
                    <a:lumOff val="21764"/>
                  </a:schemeClr>
                </a:solidFill>
              </a:defRPr>
            </a:pPr>
          </a:p>
        </p:txBody>
      </p:sp>
      <p:sp>
        <p:nvSpPr>
          <p:cNvPr id="7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e niveau 1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>
              <a:lnSpc>
                <a:spcPct val="100000"/>
              </a:lnSpc>
              <a:buClrTx/>
              <a:buFontTx/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>
              <a:lnSpc>
                <a:spcPct val="100000"/>
              </a:lnSpc>
              <a:buClrTx/>
              <a:buFontTx/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>
              <a:lnSpc>
                <a:spcPct val="100000"/>
              </a:lnSpc>
              <a:buClrTx/>
              <a:buFontTx/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>
              <a:lnSpc>
                <a:spcPct val="100000"/>
              </a:lnSpc>
              <a:buClrTx/>
              <a:buFontTx/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Texte niveau 1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  <a:lvl2pPr algn="ctr"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2pPr>
            <a:lvl3pPr algn="ctr"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3pPr>
            <a:lvl4pPr algn="ctr"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4pPr>
            <a:lvl5pPr algn="ctr">
              <a:defRPr i="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1" spc="0" strike="noStrike" sz="1800" u="none">
          <a:solidFill>
            <a:srgbClr val="999999"/>
          </a:solidFill>
          <a:uFillTx/>
          <a:latin typeface="Montserrat"/>
          <a:ea typeface="Montserrat"/>
          <a:cs typeface="Montserrat"/>
          <a:sym typeface="Montserra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3.eu-west-1.amazonaws.com/course.oc-static.com/projects/1580+-+Analysez+des+indicateurs+de+l'%C3%A9galit%C3%A9+femme-homme+avec+Knime/guide_egalite_tpe_pme_2021.pdf" TargetMode="External"/><Relationship Id="rId3" Type="http://schemas.openxmlformats.org/officeDocument/2006/relationships/hyperlink" Target="http://ego-pro.fr" TargetMode="External"/><Relationship Id="rId4" Type="http://schemas.openxmlformats.org/officeDocument/2006/relationships/hyperlink" Target="https://s3-eu-west-1.amazonaws.com/static.oc-static.com/prod/courses/files/parcours-data-analyst/Pre%CC%81sentation+outil+Diagnostic+E%CC%81galite%CC%81.pdf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>
            <a:solidFill>
              <a:schemeClr val="accent2">
                <a:lumOff val="21764"/>
              </a:schemeClr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0" name="Google Shape;55;p1"/>
          <p:cNvSpPr txBox="1"/>
          <p:nvPr/>
        </p:nvSpPr>
        <p:spPr>
          <a:xfrm>
            <a:off x="690950" y="905988"/>
            <a:ext cx="8029037" cy="211276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813816">
              <a:defRPr sz="3559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Analysez des indicateurs de l'égalité femmes/hommes en respect du RGPD</a:t>
            </a:r>
            <a:endParaRPr>
              <a:solidFill>
                <a:srgbClr val="271A38"/>
              </a:solidFill>
            </a:endParaRPr>
          </a:p>
        </p:txBody>
      </p:sp>
      <p:sp>
        <p:nvSpPr>
          <p:cNvPr id="111" name="Google Shape;56;p1"/>
          <p:cNvSpPr txBox="1"/>
          <p:nvPr/>
        </p:nvSpPr>
        <p:spPr>
          <a:xfrm>
            <a:off x="4968964" y="3582148"/>
            <a:ext cx="3807681" cy="53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algn="ctr" defTabSz="822959">
              <a:lnSpc>
                <a:spcPct val="80000"/>
              </a:lnSpc>
              <a:defRPr sz="2250"/>
            </a:pPr>
            <a:r>
              <a:t>[</a:t>
            </a:r>
            <a:r>
              <a:rPr sz="1619"/>
              <a:t>Tharinyan PATHMANTHAN</a:t>
            </a:r>
            <a:r>
              <a:t>]</a:t>
            </a:r>
          </a:p>
        </p:txBody>
      </p:sp>
      <p:sp>
        <p:nvSpPr>
          <p:cNvPr id="112" name="Google Shape;57;p1"/>
          <p:cNvSpPr txBox="1"/>
          <p:nvPr/>
        </p:nvSpPr>
        <p:spPr>
          <a:xfrm>
            <a:off x="4968964" y="3975103"/>
            <a:ext cx="3807681" cy="53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algn="ctr" defTabSz="822959">
              <a:lnSpc>
                <a:spcPct val="80000"/>
              </a:lnSpc>
              <a:defRPr sz="2250"/>
            </a:pPr>
            <a:r>
              <a:t>[</a:t>
            </a:r>
            <a:r>
              <a:rPr sz="1619"/>
              <a:t>Data analyste</a:t>
            </a:r>
            <a:r>
              <a:t>]</a:t>
            </a:r>
          </a:p>
        </p:txBody>
      </p:sp>
      <p:sp>
        <p:nvSpPr>
          <p:cNvPr id="113" name="Google Shape;58;p1"/>
          <p:cNvSpPr txBox="1"/>
          <p:nvPr/>
        </p:nvSpPr>
        <p:spPr>
          <a:xfrm>
            <a:off x="4968964" y="4368058"/>
            <a:ext cx="3807681" cy="53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algn="ctr" defTabSz="822959">
              <a:lnSpc>
                <a:spcPct val="80000"/>
              </a:lnSpc>
              <a:defRPr sz="2250"/>
            </a:pPr>
            <a:r>
              <a:t>[</a:t>
            </a:r>
            <a:r>
              <a:rPr sz="1619"/>
              <a:t>Date de la présentation</a:t>
            </a:r>
            <a:r>
              <a:t>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63;p4"/>
          <p:cNvSpPr txBox="1"/>
          <p:nvPr>
            <p:ph type="body" idx="1"/>
          </p:nvPr>
        </p:nvSpPr>
        <p:spPr>
          <a:xfrm>
            <a:off x="185096" y="1496892"/>
            <a:ext cx="8520601" cy="341640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999999"/>
              </a:buClr>
              <a:buFont typeface="Helvetica"/>
              <a:defRPr i="0">
                <a:solidFill>
                  <a:srgbClr val="0B0B0B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Cabinet de plus 150 salariés soumis à la présentation des index égalité homme/femme avant le 1er Mars</a:t>
            </a:r>
          </a:p>
          <a:p>
            <a:pPr>
              <a:buClr>
                <a:srgbClr val="999999"/>
              </a:buClr>
              <a:buFont typeface="Helvetica"/>
              <a:defRPr i="0">
                <a:solidFill>
                  <a:srgbClr val="0B0B0B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Améliorer notre marque employeur et attirer plus facilement des talents</a:t>
            </a:r>
          </a:p>
          <a:p>
            <a:pPr>
              <a:buClr>
                <a:srgbClr val="999999"/>
              </a:buClr>
              <a:buFont typeface="Helvetica"/>
              <a:defRPr i="0">
                <a:solidFill>
                  <a:srgbClr val="0B0B0B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Automatisation d’un rapport homme/femme à partir des fichiers SIRH fourni</a:t>
            </a:r>
          </a:p>
        </p:txBody>
      </p:sp>
      <p:sp>
        <p:nvSpPr>
          <p:cNvPr id="116" name="Google Shape;64;p4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19050" dir="5400000">
              <a:srgbClr val="000000">
                <a:alpha val="49803"/>
              </a:srgbClr>
            </a:outerShdw>
          </a:effectLst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7" name="Google Shape;65;p4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Contexte</a:t>
            </a:r>
          </a:p>
        </p:txBody>
      </p:sp>
      <p:sp>
        <p:nvSpPr>
          <p:cNvPr id="118" name="Google Shape;66;p4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63;p4"/>
          <p:cNvSpPr txBox="1"/>
          <p:nvPr>
            <p:ph type="body" idx="1"/>
          </p:nvPr>
        </p:nvSpPr>
        <p:spPr>
          <a:xfrm>
            <a:off x="156679" y="1539518"/>
            <a:ext cx="8830642" cy="341903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999999"/>
              </a:buClr>
              <a:buFont typeface="Helvetica"/>
              <a:defRPr i="0">
                <a:solidFill>
                  <a:srgbClr val="060606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Donnes issues de notre Système d’Informations des Ressources Humaines (SIRH) de 3 fichiers excels format CSV (info pro, rémunération, salarié) </a:t>
            </a:r>
          </a:p>
          <a:p>
            <a:pPr>
              <a:buClr>
                <a:srgbClr val="999999"/>
              </a:buClr>
              <a:buFont typeface="Helvetica"/>
              <a:defRPr i="0">
                <a:solidFill>
                  <a:srgbClr val="060606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Données non anonymisées</a:t>
            </a:r>
          </a:p>
          <a:p>
            <a:pPr>
              <a:buClr>
                <a:srgbClr val="999999"/>
              </a:buClr>
              <a:buFont typeface="Helvetica"/>
              <a:defRPr i="0">
                <a:solidFill>
                  <a:srgbClr val="060606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Lien mis à dispositions pour informations =&gt; </a:t>
            </a:r>
            <a:r>
              <a:rPr u="sng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hlinkClick r:id="rId2" invalidUrl="" action="" tgtFrame="" tooltip="" history="1" highlightClick="0" endSnd="0"/>
              </a:rPr>
              <a:t>Le site du ministère du Travail</a:t>
            </a:r>
          </a:p>
          <a:p>
            <a:pPr>
              <a:buClr>
                <a:srgbClr val="999999"/>
              </a:buClr>
              <a:buFont typeface="Helvetica"/>
              <a:defRPr i="0">
                <a:solidFill>
                  <a:srgbClr val="060606"/>
                </a:solidFill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5 indicateurs à choisir dans l’outil de diagnostic depuis la source </a:t>
            </a:r>
            <a:r>
              <a:rPr u="sng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hlinkClick r:id="rId3" invalidUrl="" action="" tgtFrame="" tooltip="" history="1" highlightClick="0" endSnd="0"/>
              </a:rPr>
              <a:t>ego-pro.fr</a:t>
            </a:r>
            <a:r>
              <a:t> (</a:t>
            </a:r>
            <a:r>
              <a:rPr u="sng">
                <a:solidFill>
                  <a:schemeClr val="accent5"/>
                </a:solidFill>
                <a:uFill>
                  <a:solidFill>
                    <a:schemeClr val="accent5"/>
                  </a:solidFill>
                </a:uFill>
                <a:hlinkClick r:id="rId4" invalidUrl="" action="" tgtFrame="" tooltip="" history="1" highlightClick="0" endSnd="0"/>
              </a:rPr>
              <a:t>ressources indicateurs</a:t>
            </a:r>
            <a:r>
              <a:rPr i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id="121" name="Google Shape;64;p4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  <a:effectLst>
            <a:outerShdw sx="100000" sy="100000" kx="0" ky="0" algn="b" rotWithShape="0" blurRad="63500" dist="19050" dir="5400000">
              <a:srgbClr val="000000">
                <a:alpha val="49803"/>
              </a:srgbClr>
            </a:outerShdw>
          </a:effectLst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2" name="Google Shape;65;p4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Présentation des données fournies </a:t>
            </a:r>
          </a:p>
        </p:txBody>
      </p:sp>
      <p:sp>
        <p:nvSpPr>
          <p:cNvPr id="123" name="Google Shape;66;p4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71;p5"/>
          <p:cNvSpPr txBox="1"/>
          <p:nvPr>
            <p:ph type="body" idx="1"/>
          </p:nvPr>
        </p:nvSpPr>
        <p:spPr>
          <a:xfrm>
            <a:off x="246158" y="1421745"/>
            <a:ext cx="8520601" cy="3416401"/>
          </a:xfrm>
          <a:prstGeom prst="rect">
            <a:avLst/>
          </a:prstGeom>
        </p:spPr>
        <p:txBody>
          <a:bodyPr/>
          <a:lstStyle/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importations sous l’outil KNIME des données via « CSV Reader » sous forme de table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fusion de ces tables via « Joiner » et jointure des fichiers pour créer une table consolidée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Data manipulation (Renommer des colonnes, changement de type de valeurs, filtre des colonnes nécessaire)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Sélection des colonnes en fonction du respect RGPD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Verification de la table à chaque étape de manipulation ou ségrégation des données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Utilisation des fonctions (Group by) pour créer les graphiques</a:t>
            </a:r>
          </a:p>
          <a:p>
            <a:pPr marL="354329" indent="-248031" defTabSz="850391">
              <a:buClr>
                <a:srgbClr val="999999"/>
              </a:buClr>
              <a:buSzPts val="1600"/>
              <a:buFont typeface="Helvetica"/>
              <a:defRPr i="0" sz="1674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Export d’un fichier sous format CSV de la base consolidée dans le but d’intégrer vers un autre outil (ex:Tableau)</a:t>
            </a:r>
          </a:p>
        </p:txBody>
      </p:sp>
      <p:sp>
        <p:nvSpPr>
          <p:cNvPr id="126" name="Google Shape;72;p5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7" name="Google Shape;73;p5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Méthodologie de collecte</a:t>
            </a:r>
          </a:p>
        </p:txBody>
      </p:sp>
      <p:sp>
        <p:nvSpPr>
          <p:cNvPr id="128" name="Google Shape;74;p5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71;p5"/>
          <p:cNvSpPr txBox="1"/>
          <p:nvPr>
            <p:ph type="body" idx="1"/>
          </p:nvPr>
        </p:nvSpPr>
        <p:spPr>
          <a:xfrm>
            <a:off x="246158" y="1421745"/>
            <a:ext cx="8520601" cy="3416401"/>
          </a:xfrm>
          <a:prstGeom prst="rect">
            <a:avLst/>
          </a:prstGeom>
        </p:spPr>
        <p:txBody>
          <a:bodyPr/>
          <a:lstStyle/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Pour anonymiser les données, voici le node utilisait dans l’outil KNIME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 marL="0" indent="0">
              <a:buClrTx/>
              <a:buSzTx/>
              <a:buFontTx/>
              <a:buNone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cela a permis d’exclure les données personnels et non cohérentes à l’analyse des indicateurs.</a:t>
            </a:r>
          </a:p>
        </p:txBody>
      </p:sp>
      <p:sp>
        <p:nvSpPr>
          <p:cNvPr id="131" name="Google Shape;72;p5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2" name="Google Shape;73;p5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Anonymiser les données dans le workflow</a:t>
            </a:r>
          </a:p>
        </p:txBody>
      </p:sp>
      <p:sp>
        <p:nvSpPr>
          <p:cNvPr id="133" name="Google Shape;74;p5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13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7983" y="1818753"/>
            <a:ext cx="1862916" cy="19817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79;p6"/>
          <p:cNvSpPr txBox="1"/>
          <p:nvPr>
            <p:ph type="body" idx="1"/>
          </p:nvPr>
        </p:nvSpPr>
        <p:spPr>
          <a:xfrm>
            <a:off x="1046285" y="1405593"/>
            <a:ext cx="6709501" cy="341640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999999"/>
              </a:buClr>
              <a:buFont typeface="Helvetica"/>
              <a:defRPr strike="sngStrike">
                <a:solidFill>
                  <a:srgbClr val="050505"/>
                </a:solidFill>
              </a:defRPr>
            </a:pP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Répartition des effectifs par type de contrat (embauche)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Répartition des effectif par service (qualification)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Répartition des effectifs selon la durée du travail (condition du travail)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Répartition des accidents du travail (sécurité et santé du travail)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chemeClr val="accent2">
                    <a:lumOff val="-2588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Rémunération moyenne mensuelle (Rémunération effective obligatoire)</a:t>
            </a:r>
          </a:p>
        </p:txBody>
      </p:sp>
      <p:sp>
        <p:nvSpPr>
          <p:cNvPr id="137" name="Google Shape;80;p6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8" name="Google Shape;81;p6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choix des indicateurs</a:t>
            </a:r>
          </a:p>
        </p:txBody>
      </p:sp>
      <p:sp>
        <p:nvSpPr>
          <p:cNvPr id="139" name="Google Shape;82;p6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95;g13f9e8f1567_0_0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2" name="Google Shape;96;g13f9e8f1567_0_0"/>
          <p:cNvSpPr txBox="1"/>
          <p:nvPr/>
        </p:nvSpPr>
        <p:spPr>
          <a:xfrm>
            <a:off x="966201" y="408750"/>
            <a:ext cx="7956310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 defTabSz="374904">
              <a:defRPr sz="246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Répartition des effectifs par type de contrat (embauche)</a:t>
            </a:r>
          </a:p>
        </p:txBody>
      </p:sp>
      <p:pic>
        <p:nvPicPr>
          <p:cNvPr id="14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5408" y="1818978"/>
            <a:ext cx="4900834" cy="33313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87;p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46" name="Google Shape;88;p7"/>
          <p:cNvSpPr txBox="1"/>
          <p:nvPr/>
        </p:nvSpPr>
        <p:spPr>
          <a:xfrm>
            <a:off x="311699" y="333356"/>
            <a:ext cx="8520602" cy="72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 defTabSz="365760">
              <a:defRPr sz="24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Répartition des effectifs par service (qualification)</a:t>
            </a:r>
          </a:p>
        </p:txBody>
      </p:sp>
      <p:pic>
        <p:nvPicPr>
          <p:cNvPr id="14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2256" y="1670829"/>
            <a:ext cx="4519488" cy="33803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87;p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0" name="Google Shape;88;p7"/>
          <p:cNvSpPr txBox="1"/>
          <p:nvPr/>
        </p:nvSpPr>
        <p:spPr>
          <a:xfrm>
            <a:off x="311699" y="179320"/>
            <a:ext cx="8626108" cy="122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8900" tIns="88900" rIns="88900" bIns="88900">
            <a:normAutofit fontScale="100000" lnSpcReduction="0"/>
          </a:bodyPr>
          <a:lstStyle>
            <a:lvl1pPr algn="ctr" defTabSz="365760">
              <a:defRPr sz="24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Répartition des effectifs selon la durée du travail (condition du travail)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8484" y="1869887"/>
            <a:ext cx="5012539" cy="33588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87;p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4" name="Google Shape;88;p7"/>
          <p:cNvSpPr txBox="1"/>
          <p:nvPr/>
        </p:nvSpPr>
        <p:spPr>
          <a:xfrm>
            <a:off x="311699" y="179320"/>
            <a:ext cx="8520602" cy="103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8900" tIns="88900" rIns="88900" bIns="88900">
            <a:normAutofit fontScale="100000" lnSpcReduction="0"/>
          </a:bodyPr>
          <a:lstStyle>
            <a:lvl1pPr algn="ctr" defTabSz="530351">
              <a:defRPr sz="29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Répartition des accidents du travail (sécurité et santé du travail)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2524" y="1669740"/>
            <a:ext cx="4918952" cy="32961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87;p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8" name="Google Shape;88;p7"/>
          <p:cNvSpPr txBox="1"/>
          <p:nvPr/>
        </p:nvSpPr>
        <p:spPr>
          <a:xfrm>
            <a:off x="311699" y="179320"/>
            <a:ext cx="8520602" cy="103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8900" tIns="88900" rIns="88900" bIns="88900">
            <a:normAutofit fontScale="100000" lnSpcReduction="0"/>
          </a:bodyPr>
          <a:lstStyle>
            <a:lvl1pPr algn="ctr" defTabSz="530351">
              <a:defRPr sz="29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Rémunération moyenne mensuelle (Rémunération effective obligatoire)</a:t>
            </a:r>
          </a:p>
        </p:txBody>
      </p:sp>
      <p:pic>
        <p:nvPicPr>
          <p:cNvPr id="15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1301" y="1440448"/>
            <a:ext cx="5081398" cy="36940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87;p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2" name="Google Shape;88;p7"/>
          <p:cNvSpPr txBox="1"/>
          <p:nvPr/>
        </p:nvSpPr>
        <p:spPr>
          <a:xfrm>
            <a:off x="311699" y="179320"/>
            <a:ext cx="8520602" cy="103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8900" tIns="88900" rIns="88900" bIns="88900">
            <a:normAutofit fontScale="100000" lnSpcReduction="0"/>
          </a:bodyPr>
          <a:lstStyle>
            <a:lvl1pPr algn="ctr">
              <a:defRPr sz="31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Score d’égalité femmes/hommes</a:t>
            </a:r>
          </a:p>
        </p:txBody>
      </p:sp>
      <p:pic>
        <p:nvPicPr>
          <p:cNvPr id="16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2397" y="1559816"/>
            <a:ext cx="8739206" cy="32155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03;g13f9e8f1567_0_7"/>
          <p:cNvSpPr/>
          <p:nvPr/>
        </p:nvSpPr>
        <p:spPr>
          <a:xfrm>
            <a:off x="0" y="-1"/>
            <a:ext cx="9144000" cy="1390202"/>
          </a:xfrm>
          <a:prstGeom prst="rect">
            <a:avLst/>
          </a:prstGeom>
          <a:solidFill>
            <a:srgbClr val="004D40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6" name="Google Shape;104;g13f9e8f1567_0_7"/>
          <p:cNvSpPr txBox="1"/>
          <p:nvPr/>
        </p:nvSpPr>
        <p:spPr>
          <a:xfrm>
            <a:off x="895524" y="3372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>
              <a:defRPr>
                <a:solidFill>
                  <a:srgbClr val="F3F3F3"/>
                </a:solidFill>
              </a:defRPr>
            </a:lvl1pPr>
          </a:lstStyle>
          <a:p>
            <a:pPr/>
            <a:r>
              <a:t>Recommandations et Actions</a:t>
            </a:r>
          </a:p>
        </p:txBody>
      </p:sp>
      <p:sp>
        <p:nvSpPr>
          <p:cNvPr id="167" name="Google Shape;105;g13f9e8f1567_0_7"/>
          <p:cNvSpPr/>
          <p:nvPr/>
        </p:nvSpPr>
        <p:spPr>
          <a:xfrm>
            <a:off x="1012175" y="993350"/>
            <a:ext cx="452700" cy="50401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8" name="Google Shape;106;g13f9e8f1567_0_7"/>
          <p:cNvSpPr txBox="1"/>
          <p:nvPr>
            <p:ph type="body" idx="1"/>
          </p:nvPr>
        </p:nvSpPr>
        <p:spPr>
          <a:xfrm>
            <a:off x="557273" y="1528600"/>
            <a:ext cx="8316002" cy="3416401"/>
          </a:xfrm>
          <a:prstGeom prst="rect">
            <a:avLst/>
          </a:prstGeom>
        </p:spPr>
        <p:txBody>
          <a:bodyPr/>
          <a:lstStyle/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Augmenter les salaires des femmes sur les tranches les plus fortes (Salaire fixe et variable dans le top 10)</a:t>
            </a:r>
          </a:p>
          <a:p>
            <a:pPr marL="381000" indent="-266700">
              <a:buClr>
                <a:srgbClr val="999999"/>
              </a:buClr>
              <a:buFont typeface="Helvetica"/>
              <a:defRPr i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maintenir l’effort sur l’écart sur la partie salaire annuelle moyen entre les hommes et les femmes pour la réduire encore et atteindre le maximum de point sur le score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5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5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