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3" r:id="rId6"/>
    <p:sldId id="265" r:id="rId7"/>
    <p:sldId id="260" r:id="rId8"/>
    <p:sldId id="264" r:id="rId9"/>
    <p:sldId id="266" r:id="rId10"/>
    <p:sldId id="267" r:id="rId11"/>
    <p:sldId id="261" r:id="rId12"/>
    <p:sldId id="262" r:id="rId13"/>
  </p:sldIdLst>
  <p:sldSz cx="9144000" cy="5143500" type="screen16x9"/>
  <p:notesSz cx="6858000" cy="9144000"/>
  <p:embeddedFontLst>
    <p:embeddedFont>
      <p:font typeface="Montserrat" panose="00000500000000000000"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77">
          <p15:clr>
            <a:srgbClr val="A4A3A4"/>
          </p15:clr>
        </p15:guide>
        <p15:guide id="2" pos="2721">
          <p15:clr>
            <a:srgbClr val="A4A3A4"/>
          </p15:clr>
        </p15:guide>
        <p15:guide id="3" pos="2438">
          <p15:clr>
            <a:srgbClr val="9AA0A6"/>
          </p15:clr>
        </p15:guide>
        <p15:guide id="4" pos="416">
          <p15:clr>
            <a:srgbClr val="9AA0A6"/>
          </p15:clr>
        </p15:guide>
        <p15:guide id="5" pos="1191">
          <p15:clr>
            <a:srgbClr val="9AA0A6"/>
          </p15:clr>
        </p15:guide>
        <p15:guide id="6" pos="638">
          <p15:clr>
            <a:srgbClr val="9AA0A6"/>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iohyEog1akfKJRRdWquyApPmpA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9" d="100"/>
          <a:sy n="139" d="100"/>
        </p:scale>
        <p:origin x="804" y="126"/>
      </p:cViewPr>
      <p:guideLst>
        <p:guide orient="horz" pos="1077"/>
        <p:guide pos="2721"/>
        <p:guide pos="2438"/>
        <p:guide pos="416"/>
        <p:guide pos="1191"/>
        <p:guide pos="63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325CA45D-783C-0133-6C2C-2EB198200F4B}"/>
            </a:ext>
          </a:extLst>
        </p:cNvPr>
        <p:cNvGrpSpPr/>
        <p:nvPr/>
      </p:nvGrpSpPr>
      <p:grpSpPr>
        <a:xfrm>
          <a:off x="0" y="0"/>
          <a:ext cx="0" cy="0"/>
          <a:chOff x="0" y="0"/>
          <a:chExt cx="0" cy="0"/>
        </a:xfrm>
      </p:grpSpPr>
      <p:sp>
        <p:nvSpPr>
          <p:cNvPr id="76" name="Google Shape;76;p6:notes">
            <a:extLst>
              <a:ext uri="{FF2B5EF4-FFF2-40B4-BE49-F238E27FC236}">
                <a16:creationId xmlns:a16="http://schemas.microsoft.com/office/drawing/2014/main" id="{C831B8DD-A101-085A-246A-D9FC154E53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a:extLst>
              <a:ext uri="{FF2B5EF4-FFF2-40B4-BE49-F238E27FC236}">
                <a16:creationId xmlns:a16="http://schemas.microsoft.com/office/drawing/2014/main" id="{86DA7AF3-B7D8-CBF9-1A3D-F1AAD057272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39771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104D04BF-3057-AB0C-C90B-23223FF99FD9}"/>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81E77EFD-5E3E-E576-CCD7-7DB518416B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488D63ED-61F6-2C12-3102-559F061219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65581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CD94218B-1008-C72F-6C55-A870393A3337}"/>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20A99FD7-C134-AF54-5E5F-0F3E526D2C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1EC6B9FB-22C7-9C9C-8246-B4617E89C50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9363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F07AF6BF-7B36-44B9-D36C-6B817BF19E5B}"/>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3A42F8D3-0C78-8803-B773-A2F806F26B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E6F8DD62-7145-7F78-8AC0-1B840096ED4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9811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DA669E9D-C76D-AFB3-97A8-180A6BECA861}"/>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7D931B02-3918-F079-453E-A77F2EF52C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3EDB2BE8-FC55-3AFE-075B-38D36E75B9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96238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3f9e8f15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13f9e8f156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3f9e8f156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13f9e8f1567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5"/>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6"/>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7"/>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7"/>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7"/>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8"/>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p:nvPr/>
        </p:nvSpPr>
        <p:spPr>
          <a:xfrm>
            <a:off x="0" y="0"/>
            <a:ext cx="9144000" cy="5143500"/>
          </a:xfrm>
          <a:prstGeom prst="rect">
            <a:avLst/>
          </a:prstGeom>
          <a:solidFill>
            <a:srgbClr val="004D4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
          <p:cNvSpPr txBox="1"/>
          <p:nvPr/>
        </p:nvSpPr>
        <p:spPr>
          <a:xfrm>
            <a:off x="652150" y="1851250"/>
            <a:ext cx="7983300" cy="894000"/>
          </a:xfrm>
          <a:prstGeom prst="rect">
            <a:avLst/>
          </a:prstGeom>
          <a:noFill/>
          <a:ln>
            <a:noFill/>
          </a:ln>
        </p:spPr>
        <p:txBody>
          <a:bodyPr spcFirstLastPara="1" wrap="square" lIns="91425" tIns="91425" rIns="91425" bIns="91425" anchor="b" anchorCtr="0">
            <a:normAutofit fontScale="92500" lnSpcReduction="10000"/>
          </a:bodyPr>
          <a:lstStyle/>
          <a:p>
            <a:pPr marL="0" marR="0" lvl="0" indent="0" algn="ctr" rtl="0">
              <a:lnSpc>
                <a:spcPct val="100000"/>
              </a:lnSpc>
              <a:spcBef>
                <a:spcPts val="0"/>
              </a:spcBef>
              <a:spcAft>
                <a:spcPts val="0"/>
              </a:spcAft>
              <a:buClr>
                <a:srgbClr val="000000"/>
              </a:buClr>
              <a:buSzPct val="100000"/>
              <a:buFont typeface="Arial"/>
              <a:buNone/>
            </a:pPr>
            <a:r>
              <a:rPr lang="fr" sz="5200" b="0" i="0" u="none" strike="noStrike" cap="none" dirty="0">
                <a:solidFill>
                  <a:srgbClr val="F3F3F3"/>
                </a:solidFill>
                <a:latin typeface="Montserrat"/>
                <a:ea typeface="Montserrat"/>
                <a:cs typeface="Montserrat"/>
                <a:sym typeface="Montserrat"/>
              </a:rPr>
              <a:t>[</a:t>
            </a:r>
            <a:r>
              <a:rPr lang="fr" sz="5200" dirty="0">
                <a:solidFill>
                  <a:srgbClr val="F3F3F3"/>
                </a:solidFill>
                <a:latin typeface="Montserrat"/>
                <a:ea typeface="Montserrat"/>
                <a:cs typeface="Montserrat"/>
                <a:sym typeface="Montserrat"/>
              </a:rPr>
              <a:t> Bottleneck</a:t>
            </a:r>
            <a:r>
              <a:rPr lang="fr" sz="5200" b="0" i="0" u="none" strike="noStrike" cap="none" dirty="0">
                <a:solidFill>
                  <a:srgbClr val="F3F3F3"/>
                </a:solidFill>
                <a:latin typeface="Montserrat"/>
                <a:ea typeface="Montserrat"/>
                <a:cs typeface="Montserrat"/>
                <a:sym typeface="Montserrat"/>
              </a:rPr>
              <a:t>]</a:t>
            </a:r>
            <a:endParaRPr sz="5200" b="0" i="0" u="none" strike="noStrike" cap="none" dirty="0">
              <a:solidFill>
                <a:srgbClr val="F3F3F3"/>
              </a:solidFill>
              <a:latin typeface="Montserrat"/>
              <a:ea typeface="Montserrat"/>
              <a:cs typeface="Montserrat"/>
              <a:sym typeface="Montserrat"/>
            </a:endParaRPr>
          </a:p>
        </p:txBody>
      </p:sp>
      <p:sp>
        <p:nvSpPr>
          <p:cNvPr id="56" name="Google Shape;56;p1"/>
          <p:cNvSpPr txBox="1"/>
          <p:nvPr/>
        </p:nvSpPr>
        <p:spPr>
          <a:xfrm>
            <a:off x="4968964" y="3582148"/>
            <a:ext cx="3807680" cy="534150"/>
          </a:xfrm>
          <a:prstGeom prst="rect">
            <a:avLst/>
          </a:prstGeom>
          <a:noFill/>
          <a:ln>
            <a:noFill/>
          </a:ln>
        </p:spPr>
        <p:txBody>
          <a:bodyPr spcFirstLastPara="1" wrap="square" lIns="91425" tIns="91425" rIns="91425" bIns="91425" anchor="t"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fr" sz="2800" b="0" i="0" u="none" strike="noStrike" cap="none" dirty="0">
                <a:solidFill>
                  <a:schemeClr val="lt1"/>
                </a:solidFill>
                <a:latin typeface="Montserrat"/>
                <a:ea typeface="Montserrat"/>
                <a:cs typeface="Montserrat"/>
                <a:sym typeface="Montserrat"/>
              </a:rPr>
              <a:t>[</a:t>
            </a:r>
            <a:r>
              <a:rPr lang="fr-FR" sz="2000" b="0" i="0" u="none" strike="noStrike" cap="none" dirty="0">
                <a:solidFill>
                  <a:schemeClr val="lt1"/>
                </a:solidFill>
                <a:latin typeface="Montserrat"/>
                <a:ea typeface="Montserrat"/>
                <a:cs typeface="Montserrat"/>
                <a:sym typeface="Montserrat"/>
              </a:rPr>
              <a:t>Pathmanathan</a:t>
            </a:r>
            <a:r>
              <a:rPr lang="fr" sz="2000" dirty="0">
                <a:solidFill>
                  <a:schemeClr val="lt1"/>
                </a:solidFill>
                <a:latin typeface="Montserrat"/>
                <a:ea typeface="Montserrat"/>
                <a:cs typeface="Montserrat"/>
                <a:sym typeface="Montserrat"/>
              </a:rPr>
              <a:t> Tharinyan</a:t>
            </a:r>
            <a:r>
              <a:rPr lang="fr" sz="2800" b="0" i="0" u="none" strike="noStrike" cap="none" dirty="0">
                <a:solidFill>
                  <a:schemeClr val="lt1"/>
                </a:solidFill>
                <a:latin typeface="Montserrat"/>
                <a:ea typeface="Montserrat"/>
                <a:cs typeface="Montserrat"/>
                <a:sym typeface="Montserrat"/>
              </a:rPr>
              <a:t>]</a:t>
            </a:r>
            <a:endParaRPr sz="2800" b="0" i="0" u="none" strike="noStrike" cap="none" dirty="0">
              <a:solidFill>
                <a:schemeClr val="lt1"/>
              </a:solidFill>
              <a:latin typeface="Montserrat"/>
              <a:ea typeface="Montserrat"/>
              <a:cs typeface="Montserrat"/>
              <a:sym typeface="Montserrat"/>
            </a:endParaRPr>
          </a:p>
        </p:txBody>
      </p:sp>
      <p:sp>
        <p:nvSpPr>
          <p:cNvPr id="57" name="Google Shape;57;p1"/>
          <p:cNvSpPr txBox="1"/>
          <p:nvPr/>
        </p:nvSpPr>
        <p:spPr>
          <a:xfrm>
            <a:off x="4968964" y="3975103"/>
            <a:ext cx="3807680" cy="534150"/>
          </a:xfrm>
          <a:prstGeom prst="rect">
            <a:avLst/>
          </a:prstGeom>
          <a:noFill/>
          <a:ln>
            <a:noFill/>
          </a:ln>
        </p:spPr>
        <p:txBody>
          <a:bodyPr spcFirstLastPara="1" wrap="square" lIns="91425" tIns="91425" rIns="91425" bIns="91425" anchor="t"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fr" sz="2800" b="0" i="0" u="none" strike="noStrike" cap="none" dirty="0">
                <a:solidFill>
                  <a:schemeClr val="lt1"/>
                </a:solidFill>
                <a:latin typeface="Montserrat"/>
                <a:ea typeface="Montserrat"/>
                <a:cs typeface="Montserrat"/>
                <a:sym typeface="Montserrat"/>
              </a:rPr>
              <a:t>[</a:t>
            </a:r>
            <a:r>
              <a:rPr lang="fr" sz="2000" dirty="0">
                <a:solidFill>
                  <a:schemeClr val="lt1"/>
                </a:solidFill>
                <a:latin typeface="Montserrat"/>
                <a:ea typeface="Montserrat"/>
                <a:cs typeface="Montserrat"/>
                <a:sym typeface="Montserrat"/>
              </a:rPr>
              <a:t>Data Analyst</a:t>
            </a:r>
            <a:r>
              <a:rPr lang="fr" sz="2800" b="0" i="0" u="none" strike="noStrike" cap="none" dirty="0">
                <a:solidFill>
                  <a:schemeClr val="lt1"/>
                </a:solidFill>
                <a:latin typeface="Montserrat"/>
                <a:ea typeface="Montserrat"/>
                <a:cs typeface="Montserrat"/>
                <a:sym typeface="Montserrat"/>
              </a:rPr>
              <a:t>]</a:t>
            </a:r>
            <a:endParaRPr sz="2800" b="0" i="0" u="none" strike="noStrike" cap="none" dirty="0">
              <a:solidFill>
                <a:schemeClr val="lt1"/>
              </a:solidFill>
              <a:latin typeface="Montserrat"/>
              <a:ea typeface="Montserrat"/>
              <a:cs typeface="Montserrat"/>
              <a:sym typeface="Montserrat"/>
            </a:endParaRPr>
          </a:p>
        </p:txBody>
      </p:sp>
      <p:sp>
        <p:nvSpPr>
          <p:cNvPr id="58" name="Google Shape;58;p1"/>
          <p:cNvSpPr txBox="1"/>
          <p:nvPr/>
        </p:nvSpPr>
        <p:spPr>
          <a:xfrm>
            <a:off x="4968964" y="4368058"/>
            <a:ext cx="3807680" cy="534150"/>
          </a:xfrm>
          <a:prstGeom prst="rect">
            <a:avLst/>
          </a:prstGeom>
          <a:noFill/>
          <a:ln>
            <a:noFill/>
          </a:ln>
        </p:spPr>
        <p:txBody>
          <a:bodyPr spcFirstLastPara="1" wrap="square" lIns="91425" tIns="91425" rIns="91425" bIns="91425" anchor="t"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fr" sz="2800" b="0" i="0" u="none" strike="noStrike" cap="none" dirty="0">
                <a:solidFill>
                  <a:schemeClr val="lt1"/>
                </a:solidFill>
                <a:latin typeface="Montserrat"/>
                <a:ea typeface="Montserrat"/>
                <a:cs typeface="Montserrat"/>
                <a:sym typeface="Montserrat"/>
              </a:rPr>
              <a:t>[</a:t>
            </a:r>
            <a:r>
              <a:rPr lang="fr" sz="2000" b="0" i="0" u="none" strike="noStrike" cap="none" dirty="0">
                <a:solidFill>
                  <a:schemeClr val="lt1"/>
                </a:solidFill>
                <a:latin typeface="Montserrat"/>
                <a:ea typeface="Montserrat"/>
                <a:cs typeface="Montserrat"/>
                <a:sym typeface="Montserrat"/>
              </a:rPr>
              <a:t>20/01/2025</a:t>
            </a:r>
            <a:r>
              <a:rPr lang="fr" sz="2800" b="0" i="0" u="none" strike="noStrike" cap="none" dirty="0">
                <a:solidFill>
                  <a:schemeClr val="lt1"/>
                </a:solidFill>
                <a:latin typeface="Montserrat"/>
                <a:ea typeface="Montserrat"/>
                <a:cs typeface="Montserrat"/>
                <a:sym typeface="Montserrat"/>
              </a:rPr>
              <a:t>]</a:t>
            </a:r>
            <a:endParaRPr sz="2800" b="0" i="0" u="none" strike="noStrike" cap="none" dirty="0">
              <a:solidFill>
                <a:schemeClr val="lt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txBox="1">
            <a:spLocks noGrp="1"/>
          </p:cNvSpPr>
          <p:nvPr>
            <p:ph type="body" idx="1"/>
          </p:nvPr>
        </p:nvSpPr>
        <p:spPr>
          <a:xfrm>
            <a:off x="895525" y="1591408"/>
            <a:ext cx="7729729" cy="3499492"/>
          </a:xfrm>
          <a:prstGeom prst="rect">
            <a:avLst/>
          </a:prstGeom>
          <a:noFill/>
          <a:ln>
            <a:noFill/>
          </a:ln>
        </p:spPr>
        <p:txBody>
          <a:bodyPr spcFirstLastPara="1" wrap="square" lIns="91425" tIns="91425" rIns="91425" bIns="91425" anchor="t" anchorCtr="0">
            <a:normAutofit fontScale="85000" lnSpcReduction="10000"/>
          </a:bodyPr>
          <a:lstStyle/>
          <a:p>
            <a:pPr marL="457200" marR="0" lvl="0" indent="-342900" algn="l" rtl="0">
              <a:lnSpc>
                <a:spcPct val="115000"/>
              </a:lnSpc>
              <a:spcBef>
                <a:spcPts val="0"/>
              </a:spcBef>
              <a:spcAft>
                <a:spcPts val="0"/>
              </a:spcAft>
              <a:buClr>
                <a:srgbClr val="999999"/>
              </a:buClr>
              <a:buSzPts val="1800"/>
              <a:buFont typeface="Montserrat"/>
              <a:buChar char="●"/>
            </a:pPr>
            <a:r>
              <a:rPr lang="fr-FR" dirty="0">
                <a:solidFill>
                  <a:schemeClr val="tx1"/>
                </a:solidFill>
                <a:latin typeface="Montserrat"/>
                <a:ea typeface="Montserrat"/>
                <a:cs typeface="Montserrat"/>
                <a:sym typeface="Montserrat"/>
              </a:rPr>
              <a:t>ERP (825,8),Web(1513,29), Liaison (8125,2)</a:t>
            </a:r>
            <a:endParaRPr dirty="0">
              <a:solidFill>
                <a:schemeClr val="tx1"/>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999999"/>
              </a:buClr>
              <a:buSzPts val="1800"/>
              <a:buFont typeface="Montserrat"/>
              <a:buChar char="●"/>
            </a:pPr>
            <a:r>
              <a:rPr lang="fr" i="1" dirty="0">
                <a:solidFill>
                  <a:schemeClr val="tx1"/>
                </a:solidFill>
                <a:latin typeface="Montserrat"/>
                <a:ea typeface="Montserrat"/>
                <a:cs typeface="Montserrat"/>
                <a:sym typeface="Montserrat"/>
              </a:rPr>
              <a:t>Tout type : Float64/Object/int64/datetime64</a:t>
            </a:r>
            <a:endParaRPr i="1" dirty="0">
              <a:solidFill>
                <a:schemeClr val="tx1"/>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999999"/>
              </a:buClr>
              <a:buSzPts val="1800"/>
              <a:buFont typeface="Montserrat"/>
              <a:buChar char="●"/>
            </a:pPr>
            <a:r>
              <a:rPr lang="fr" i="1" dirty="0">
                <a:solidFill>
                  <a:schemeClr val="tx1"/>
                </a:solidFill>
                <a:latin typeface="Montserrat"/>
                <a:ea typeface="Montserrat"/>
                <a:cs typeface="Montserrat"/>
                <a:sym typeface="Montserrat"/>
              </a:rPr>
              <a:t>Traitement réalisés</a:t>
            </a:r>
            <a:endParaRPr i="1" dirty="0">
              <a:solidFill>
                <a:schemeClr val="tx1"/>
              </a:solidFill>
              <a:latin typeface="Montserrat"/>
              <a:ea typeface="Montserrat"/>
              <a:cs typeface="Montserrat"/>
              <a:sym typeface="Montserrat"/>
            </a:endParaRPr>
          </a:p>
          <a:p>
            <a:pPr marR="0" lvl="1" algn="l" rtl="0">
              <a:lnSpc>
                <a:spcPct val="115000"/>
              </a:lnSpc>
              <a:spcBef>
                <a:spcPts val="0"/>
              </a:spcBef>
              <a:spcAft>
                <a:spcPts val="0"/>
              </a:spcAft>
              <a:buClr>
                <a:srgbClr val="999999"/>
              </a:buClr>
              <a:buSzPts val="1400"/>
              <a:buFont typeface="Wingdings" panose="05000000000000000000" pitchFamily="2" charset="2"/>
              <a:buChar char="Ø"/>
            </a:pPr>
            <a:r>
              <a:rPr lang="fr" sz="1800" i="1" dirty="0">
                <a:solidFill>
                  <a:schemeClr val="tx1"/>
                </a:solidFill>
                <a:latin typeface="Montserrat"/>
                <a:ea typeface="Montserrat"/>
                <a:cs typeface="Montserrat"/>
                <a:sym typeface="Montserrat"/>
              </a:rPr>
              <a:t>Nettoyages des données (doublons, unicité,création de colonnes, variables à 0 ou NAN)</a:t>
            </a:r>
          </a:p>
          <a:p>
            <a:pPr marR="0" lvl="1" algn="l" rtl="0">
              <a:lnSpc>
                <a:spcPct val="115000"/>
              </a:lnSpc>
              <a:spcBef>
                <a:spcPts val="0"/>
              </a:spcBef>
              <a:spcAft>
                <a:spcPts val="0"/>
              </a:spcAft>
              <a:buClr>
                <a:srgbClr val="999999"/>
              </a:buClr>
              <a:buSzPts val="1400"/>
              <a:buFont typeface="Wingdings" panose="05000000000000000000" pitchFamily="2" charset="2"/>
              <a:buChar char="Ø"/>
            </a:pPr>
            <a:r>
              <a:rPr lang="fr-FR" sz="1800" i="1" dirty="0">
                <a:solidFill>
                  <a:schemeClr val="tx1"/>
                </a:solidFill>
                <a:latin typeface="Montserrat"/>
                <a:ea typeface="Montserrat"/>
                <a:cs typeface="Montserrat"/>
                <a:sym typeface="Montserrat"/>
              </a:rPr>
              <a:t>Vérification des variables existantes ( comparaison statut du stock)</a:t>
            </a:r>
          </a:p>
          <a:p>
            <a:pPr marR="0" lvl="1" algn="l" rtl="0">
              <a:lnSpc>
                <a:spcPct val="115000"/>
              </a:lnSpc>
              <a:spcBef>
                <a:spcPts val="0"/>
              </a:spcBef>
              <a:spcAft>
                <a:spcPts val="0"/>
              </a:spcAft>
              <a:buClr>
                <a:srgbClr val="999999"/>
              </a:buClr>
              <a:buSzPts val="1400"/>
              <a:buFont typeface="Wingdings" panose="05000000000000000000" pitchFamily="2" charset="2"/>
              <a:buChar char="Ø"/>
            </a:pPr>
            <a:r>
              <a:rPr lang="fr-FR" sz="1800" i="1" dirty="0">
                <a:solidFill>
                  <a:schemeClr val="tx1"/>
                </a:solidFill>
                <a:latin typeface="Montserrat"/>
                <a:ea typeface="Montserrat"/>
                <a:cs typeface="Montserrat"/>
                <a:sym typeface="Montserrat"/>
              </a:rPr>
              <a:t>Recherches des valeurs nulles ou absente, voir négatif (stock)</a:t>
            </a:r>
            <a:endParaRPr sz="1800" i="1" dirty="0">
              <a:solidFill>
                <a:schemeClr val="tx1"/>
              </a:solidFill>
              <a:latin typeface="Montserrat"/>
              <a:ea typeface="Montserrat"/>
              <a:cs typeface="Montserrat"/>
              <a:sym typeface="Montserrat"/>
            </a:endParaRPr>
          </a:p>
          <a:p>
            <a:pPr marR="0" lvl="1" algn="l" rtl="0">
              <a:lnSpc>
                <a:spcPct val="115000"/>
              </a:lnSpc>
              <a:spcBef>
                <a:spcPts val="0"/>
              </a:spcBef>
              <a:spcAft>
                <a:spcPts val="0"/>
              </a:spcAft>
              <a:buClr>
                <a:srgbClr val="999999"/>
              </a:buClr>
              <a:buSzPts val="1400"/>
              <a:buFont typeface="Wingdings" panose="05000000000000000000" pitchFamily="2" charset="2"/>
              <a:buChar char="Ø"/>
            </a:pPr>
            <a:endParaRPr sz="1800" i="1" dirty="0">
              <a:solidFill>
                <a:schemeClr val="tx1"/>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999999"/>
              </a:buClr>
              <a:buSzPts val="1800"/>
              <a:buFont typeface="Montserrat"/>
              <a:buChar char="●"/>
            </a:pPr>
            <a:r>
              <a:rPr lang="fr" i="1" dirty="0">
                <a:solidFill>
                  <a:schemeClr val="tx1"/>
                </a:solidFill>
                <a:latin typeface="Montserrat"/>
                <a:ea typeface="Montserrat"/>
                <a:cs typeface="Montserrat"/>
                <a:sym typeface="Montserrat"/>
              </a:rPr>
              <a:t>Remarques éventuelles, pièges ou difficultés rencontrées:</a:t>
            </a:r>
          </a:p>
          <a:p>
            <a:pPr marR="0" lvl="0" algn="l" rtl="0">
              <a:lnSpc>
                <a:spcPct val="115000"/>
              </a:lnSpc>
              <a:spcBef>
                <a:spcPts val="0"/>
              </a:spcBef>
              <a:spcAft>
                <a:spcPts val="0"/>
              </a:spcAft>
              <a:buClr>
                <a:srgbClr val="999999"/>
              </a:buClr>
              <a:buSzPts val="1800"/>
              <a:buFont typeface="Wingdings" panose="05000000000000000000" pitchFamily="2" charset="2"/>
              <a:buChar char="Ø"/>
            </a:pPr>
            <a:r>
              <a:rPr lang="fr-FR" i="1" dirty="0">
                <a:solidFill>
                  <a:schemeClr val="tx1"/>
                </a:solidFill>
                <a:latin typeface="Montserrat"/>
                <a:ea typeface="Montserrat"/>
                <a:cs typeface="Montserrat"/>
                <a:sym typeface="Montserrat"/>
              </a:rPr>
              <a:t>L</a:t>
            </a:r>
            <a:r>
              <a:rPr lang="fr" i="1" dirty="0">
                <a:solidFill>
                  <a:schemeClr val="tx1"/>
                </a:solidFill>
                <a:latin typeface="Montserrat"/>
                <a:ea typeface="Montserrat"/>
                <a:cs typeface="Montserrat"/>
                <a:sym typeface="Montserrat"/>
              </a:rPr>
              <a:t>es lignes sans numéros références(variables en NAN), remise à 0 des stocks/prix négatif, erreur de saisie(erreur lexical/d’irrégularité des variables), erreur position des stocks,doublons, compréhension de certaines variables ( web =1)</a:t>
            </a:r>
          </a:p>
        </p:txBody>
      </p:sp>
      <p:sp>
        <p:nvSpPr>
          <p:cNvPr id="64" name="Google Shape;64;p4"/>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5" name="Google Shape;65;p4"/>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Analyses </a:t>
            </a:r>
            <a:r>
              <a:rPr lang="fr" sz="250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Exploratoires</a:t>
            </a:r>
            <a:r>
              <a:rPr lang="fr" sz="2500" b="0" i="0" u="none" strike="noStrike" cap="none">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 des Données </a:t>
            </a:r>
            <a:endParaRPr sz="2500" b="0" i="0" u="none" strike="noStrike" cap="none">
              <a:solidFill>
                <a:srgbClr val="F3F3F3"/>
              </a:solidFill>
              <a:latin typeface="Montserrat"/>
              <a:ea typeface="Montserrat"/>
              <a:cs typeface="Montserrat"/>
              <a:sym typeface="Montserrat"/>
            </a:endParaRPr>
          </a:p>
        </p:txBody>
      </p:sp>
      <p:sp>
        <p:nvSpPr>
          <p:cNvPr id="66" name="Google Shape;66;p4"/>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5"/>
          <p:cNvSpPr txBox="1">
            <a:spLocks noGrp="1"/>
          </p:cNvSpPr>
          <p:nvPr>
            <p:ph type="body" idx="1"/>
          </p:nvPr>
        </p:nvSpPr>
        <p:spPr>
          <a:xfrm>
            <a:off x="623400" y="1462750"/>
            <a:ext cx="8520600" cy="3416400"/>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
                <a:srgbClr val="999999"/>
              </a:buClr>
              <a:buSzPts val="1800"/>
              <a:buFont typeface="Montserrat"/>
              <a:buChar char="●"/>
            </a:pPr>
            <a:r>
              <a:rPr lang="fr" i="1" dirty="0">
                <a:solidFill>
                  <a:schemeClr val="tx1"/>
                </a:solidFill>
                <a:latin typeface="Montserrat"/>
                <a:ea typeface="Montserrat"/>
                <a:cs typeface="Montserrat"/>
                <a:sym typeface="Montserrat"/>
              </a:rPr>
              <a:t>Le choix des attributs s’est </a:t>
            </a:r>
            <a:r>
              <a:rPr lang="fr" i="1">
                <a:solidFill>
                  <a:schemeClr val="tx1"/>
                </a:solidFill>
                <a:latin typeface="Montserrat"/>
                <a:ea typeface="Montserrat"/>
                <a:cs typeface="Montserrat"/>
                <a:sym typeface="Montserrat"/>
              </a:rPr>
              <a:t>porté la l’identifiant entre les tables</a:t>
            </a:r>
            <a:endParaRPr lang="fr" i="1" dirty="0">
              <a:solidFill>
                <a:schemeClr val="tx1"/>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999999"/>
              </a:buClr>
              <a:buSzPts val="1800"/>
              <a:buFont typeface="Montserrat"/>
              <a:buChar char="●"/>
            </a:pPr>
            <a:r>
              <a:rPr lang="fr" i="1" dirty="0">
                <a:solidFill>
                  <a:schemeClr val="tx1"/>
                </a:solidFill>
                <a:latin typeface="Montserrat"/>
                <a:ea typeface="Montserrat"/>
                <a:cs typeface="Montserrat"/>
                <a:sym typeface="Montserrat"/>
              </a:rPr>
              <a:t>Product_ID pour la jointure df_merge  puis Id_web et Sku pour la jointure full_merge</a:t>
            </a:r>
          </a:p>
          <a:p>
            <a:pPr marL="457200" marR="0" lvl="0" indent="-342900" algn="l" rtl="0">
              <a:lnSpc>
                <a:spcPct val="115000"/>
              </a:lnSpc>
              <a:spcBef>
                <a:spcPts val="0"/>
              </a:spcBef>
              <a:spcAft>
                <a:spcPts val="0"/>
              </a:spcAft>
              <a:buClr>
                <a:srgbClr val="999999"/>
              </a:buClr>
              <a:buSzPts val="1800"/>
              <a:buFont typeface="Montserrat"/>
              <a:buChar char="●"/>
            </a:pPr>
            <a:r>
              <a:rPr lang="fr-FR" i="1" dirty="0">
                <a:solidFill>
                  <a:schemeClr val="tx1"/>
                </a:solidFill>
                <a:latin typeface="Montserrat"/>
                <a:ea typeface="Montserrat"/>
                <a:cs typeface="Montserrat"/>
                <a:sym typeface="Montserrat"/>
              </a:rPr>
              <a:t>Les lignes non référencés/non correspondantes entre les tables (113 lignes non présente dans ERP car non vendu sur site web) </a:t>
            </a:r>
            <a:endParaRPr i="1" dirty="0">
              <a:solidFill>
                <a:schemeClr val="tx1"/>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999999"/>
              </a:buClr>
              <a:buSzPts val="1800"/>
              <a:buFont typeface="Montserrat"/>
              <a:buChar char="●"/>
            </a:pPr>
            <a:r>
              <a:rPr lang="fr-FR" i="1" dirty="0">
                <a:solidFill>
                  <a:schemeClr val="tx1"/>
                </a:solidFill>
                <a:latin typeface="Montserrat"/>
                <a:ea typeface="Montserrat"/>
                <a:cs typeface="Montserrat"/>
                <a:sym typeface="Montserrat"/>
              </a:rPr>
              <a:t>L</a:t>
            </a:r>
            <a:r>
              <a:rPr lang="fr" i="1" dirty="0">
                <a:solidFill>
                  <a:schemeClr val="tx1"/>
                </a:solidFill>
                <a:latin typeface="Montserrat"/>
                <a:ea typeface="Montserrat"/>
                <a:cs typeface="Montserrat"/>
                <a:sym typeface="Montserrat"/>
              </a:rPr>
              <a:t>ignes à modifiler car certains données manquantes (r</a:t>
            </a:r>
            <a:r>
              <a:rPr lang="fr-FR" i="1" dirty="0">
                <a:solidFill>
                  <a:schemeClr val="tx1"/>
                </a:solidFill>
                <a:latin typeface="Montserrat"/>
                <a:ea typeface="Montserrat"/>
                <a:cs typeface="Montserrat"/>
                <a:sym typeface="Montserrat"/>
              </a:rPr>
              <a:t>é</a:t>
            </a:r>
            <a:r>
              <a:rPr lang="fr" i="1" dirty="0">
                <a:solidFill>
                  <a:schemeClr val="tx1"/>
                </a:solidFill>
                <a:latin typeface="Montserrat"/>
                <a:ea typeface="Montserrat"/>
                <a:cs typeface="Montserrat"/>
                <a:sym typeface="Montserrat"/>
              </a:rPr>
              <a:t>férence unique)</a:t>
            </a:r>
            <a:endParaRPr dirty="0">
              <a:solidFill>
                <a:schemeClr val="tx1"/>
              </a:solidFill>
            </a:endParaRPr>
          </a:p>
          <a:p>
            <a:pPr marL="114300" lvl="0" indent="0" algn="l" rtl="0">
              <a:lnSpc>
                <a:spcPct val="115000"/>
              </a:lnSpc>
              <a:spcBef>
                <a:spcPts val="0"/>
              </a:spcBef>
              <a:spcAft>
                <a:spcPts val="0"/>
              </a:spcAft>
              <a:buClr>
                <a:srgbClr val="434343"/>
              </a:buClr>
              <a:buSzPts val="1800"/>
              <a:buNone/>
            </a:pPr>
            <a:endParaRPr dirty="0">
              <a:solidFill>
                <a:srgbClr val="434343"/>
              </a:solidFill>
              <a:latin typeface="Montserrat"/>
              <a:ea typeface="Montserrat"/>
              <a:cs typeface="Montserrat"/>
              <a:sym typeface="Montserrat"/>
            </a:endParaRPr>
          </a:p>
        </p:txBody>
      </p:sp>
      <p:sp>
        <p:nvSpPr>
          <p:cNvPr id="72" name="Google Shape;72;p5"/>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5"/>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Fusion ou consolidations des données</a:t>
            </a:r>
            <a:endParaRPr sz="2500" b="0" i="0" u="none" strike="noStrike" cap="none">
              <a:solidFill>
                <a:srgbClr val="F3F3F3"/>
              </a:solidFill>
              <a:latin typeface="Montserrat"/>
              <a:ea typeface="Montserrat"/>
              <a:cs typeface="Montserrat"/>
              <a:sym typeface="Montserrat"/>
            </a:endParaRPr>
          </a:p>
        </p:txBody>
      </p:sp>
      <p:sp>
        <p:nvSpPr>
          <p:cNvPr id="74" name="Google Shape;74;p5"/>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6"/>
          <p:cNvSpPr txBox="1">
            <a:spLocks noGrp="1"/>
          </p:cNvSpPr>
          <p:nvPr>
            <p:ph type="body" idx="1"/>
          </p:nvPr>
        </p:nvSpPr>
        <p:spPr>
          <a:xfrm>
            <a:off x="557279" y="1528607"/>
            <a:ext cx="6709500" cy="3416400"/>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
                <a:srgbClr val="999999"/>
              </a:buClr>
              <a:buSzPts val="1800"/>
              <a:buFont typeface="Montserrat"/>
              <a:buChar char="●"/>
            </a:pPr>
            <a:r>
              <a:rPr lang="fr-FR" i="1" dirty="0">
                <a:solidFill>
                  <a:schemeClr val="tx1"/>
                </a:solidFill>
                <a:latin typeface="Montserrat"/>
                <a:ea typeface="Montserrat"/>
                <a:cs typeface="Montserrat"/>
                <a:sym typeface="Montserrat"/>
              </a:rPr>
              <a:t>Nous avons utilisé la méthode des indicateurs en statistiques dans notre étude.</a:t>
            </a:r>
          </a:p>
          <a:p>
            <a:pPr marL="457200" marR="0" lvl="0" indent="-342900" algn="l" rtl="0">
              <a:lnSpc>
                <a:spcPct val="115000"/>
              </a:lnSpc>
              <a:spcBef>
                <a:spcPts val="0"/>
              </a:spcBef>
              <a:spcAft>
                <a:spcPts val="0"/>
              </a:spcAft>
              <a:buClr>
                <a:srgbClr val="999999"/>
              </a:buClr>
              <a:buSzPts val="1800"/>
              <a:buFont typeface="Montserrat"/>
              <a:buChar char="●"/>
            </a:pPr>
            <a:endParaRPr i="1" dirty="0">
              <a:solidFill>
                <a:schemeClr val="tx1"/>
              </a:solidFill>
              <a:latin typeface="Montserrat"/>
              <a:ea typeface="Montserrat"/>
              <a:cs typeface="Montserrat"/>
              <a:sym typeface="Montserrat"/>
            </a:endParaRPr>
          </a:p>
        </p:txBody>
      </p:sp>
      <p:sp>
        <p:nvSpPr>
          <p:cNvPr id="80" name="Google Shape;80;p6"/>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6"/>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Analyses univariées du prix</a:t>
            </a:r>
            <a:endParaRPr sz="2500" b="0" i="0" u="none" strike="noStrike" cap="none">
              <a:solidFill>
                <a:srgbClr val="F3F3F3"/>
              </a:solidFill>
              <a:latin typeface="Montserrat"/>
              <a:ea typeface="Montserrat"/>
              <a:cs typeface="Montserrat"/>
              <a:sym typeface="Montserrat"/>
            </a:endParaRPr>
          </a:p>
        </p:txBody>
      </p:sp>
      <p:sp>
        <p:nvSpPr>
          <p:cNvPr id="82" name="Google Shape;82;p6"/>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A6608D88-1908-82A9-6D9B-DBE34960E777}"/>
            </a:ext>
          </a:extLst>
        </p:cNvPr>
        <p:cNvGrpSpPr/>
        <p:nvPr/>
      </p:nvGrpSpPr>
      <p:grpSpPr>
        <a:xfrm>
          <a:off x="0" y="0"/>
          <a:ext cx="0" cy="0"/>
          <a:chOff x="0" y="0"/>
          <a:chExt cx="0" cy="0"/>
        </a:xfrm>
      </p:grpSpPr>
      <p:sp>
        <p:nvSpPr>
          <p:cNvPr id="79" name="Google Shape;79;p6">
            <a:extLst>
              <a:ext uri="{FF2B5EF4-FFF2-40B4-BE49-F238E27FC236}">
                <a16:creationId xmlns:a16="http://schemas.microsoft.com/office/drawing/2014/main" id="{73F3130E-8F82-DC75-1BB5-F24B81221C1A}"/>
              </a:ext>
            </a:extLst>
          </p:cNvPr>
          <p:cNvSpPr txBox="1">
            <a:spLocks noGrp="1"/>
          </p:cNvSpPr>
          <p:nvPr>
            <p:ph type="body" idx="1"/>
          </p:nvPr>
        </p:nvSpPr>
        <p:spPr>
          <a:xfrm>
            <a:off x="467902" y="3928843"/>
            <a:ext cx="6111653" cy="977095"/>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
                <a:srgbClr val="999999"/>
              </a:buClr>
              <a:buSzPts val="1800"/>
              <a:buFont typeface="Montserrat"/>
              <a:buChar char="●"/>
            </a:pPr>
            <a:r>
              <a:rPr lang="fr-FR" sz="1050" dirty="0">
                <a:solidFill>
                  <a:schemeClr val="tx1"/>
                </a:solidFill>
                <a:latin typeface="+mj-lt"/>
                <a:ea typeface="Montserrat"/>
                <a:cs typeface="Montserrat"/>
                <a:sym typeface="Montserrat"/>
              </a:rPr>
              <a:t>Ce graphique représente la répartition des prix avec leurs minimum et maximum, ainsi que la médiane et les valeurs aberrantes. La plupart des prix se concentre dans le rectangle (dispersion) composé en quartile et incluant la médiane.</a:t>
            </a:r>
          </a:p>
          <a:p>
            <a:pPr marL="457200" marR="0" lvl="0" indent="-342900" algn="l" rtl="0">
              <a:lnSpc>
                <a:spcPct val="115000"/>
              </a:lnSpc>
              <a:spcBef>
                <a:spcPts val="0"/>
              </a:spcBef>
              <a:spcAft>
                <a:spcPts val="0"/>
              </a:spcAft>
              <a:buClr>
                <a:srgbClr val="999999"/>
              </a:buClr>
              <a:buSzPts val="1800"/>
              <a:buFont typeface="Montserrat"/>
              <a:buChar char="●"/>
            </a:pPr>
            <a:r>
              <a:rPr lang="fr" sz="1000" dirty="0">
                <a:solidFill>
                  <a:schemeClr val="tx1"/>
                </a:solidFill>
                <a:latin typeface="+mj-lt"/>
                <a:sym typeface="Montserrat"/>
              </a:rPr>
              <a:t>Nous ne pouvons pas conclure que les outliers sont des erreurs, il faut vérifier le type de product</a:t>
            </a:r>
            <a:endParaRPr sz="1000" dirty="0">
              <a:solidFill>
                <a:schemeClr val="tx1"/>
              </a:solidFill>
              <a:latin typeface="+mj-lt"/>
              <a:sym typeface="Montserrat"/>
            </a:endParaRPr>
          </a:p>
        </p:txBody>
      </p:sp>
      <p:sp>
        <p:nvSpPr>
          <p:cNvPr id="80" name="Google Shape;80;p6">
            <a:extLst>
              <a:ext uri="{FF2B5EF4-FFF2-40B4-BE49-F238E27FC236}">
                <a16:creationId xmlns:a16="http://schemas.microsoft.com/office/drawing/2014/main" id="{361ACDD1-579E-D5E2-8F9F-41996679830A}"/>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6">
            <a:extLst>
              <a:ext uri="{FF2B5EF4-FFF2-40B4-BE49-F238E27FC236}">
                <a16:creationId xmlns:a16="http://schemas.microsoft.com/office/drawing/2014/main" id="{A34F8040-CA30-BAB2-CAA1-3E49E26B8897}"/>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Analyses univariées du prix</a:t>
            </a:r>
            <a:endParaRPr sz="2500" b="0" i="0" u="none" strike="noStrike" cap="none">
              <a:solidFill>
                <a:srgbClr val="F3F3F3"/>
              </a:solidFill>
              <a:latin typeface="Montserrat"/>
              <a:ea typeface="Montserrat"/>
              <a:cs typeface="Montserrat"/>
              <a:sym typeface="Montserrat"/>
            </a:endParaRPr>
          </a:p>
        </p:txBody>
      </p:sp>
      <p:sp>
        <p:nvSpPr>
          <p:cNvPr id="82" name="Google Shape;82;p6">
            <a:extLst>
              <a:ext uri="{FF2B5EF4-FFF2-40B4-BE49-F238E27FC236}">
                <a16:creationId xmlns:a16="http://schemas.microsoft.com/office/drawing/2014/main" id="{CA382E9B-C2A1-AFE9-391D-814AF11B93AF}"/>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 name="Image 4">
            <a:extLst>
              <a:ext uri="{FF2B5EF4-FFF2-40B4-BE49-F238E27FC236}">
                <a16:creationId xmlns:a16="http://schemas.microsoft.com/office/drawing/2014/main" id="{A2F306AC-34DF-277E-748A-698E1C05847A}"/>
              </a:ext>
            </a:extLst>
          </p:cNvPr>
          <p:cNvPicPr>
            <a:picLocks noChangeAspect="1"/>
          </p:cNvPicPr>
          <p:nvPr/>
        </p:nvPicPr>
        <p:blipFill>
          <a:blip r:embed="rId3"/>
          <a:stretch>
            <a:fillRect/>
          </a:stretch>
        </p:blipFill>
        <p:spPr>
          <a:xfrm>
            <a:off x="0" y="1213621"/>
            <a:ext cx="9144000" cy="2716257"/>
          </a:xfrm>
          <a:prstGeom prst="rect">
            <a:avLst/>
          </a:prstGeom>
        </p:spPr>
      </p:pic>
    </p:spTree>
    <p:extLst>
      <p:ext uri="{BB962C8B-B14F-4D97-AF65-F5344CB8AC3E}">
        <p14:creationId xmlns:p14="http://schemas.microsoft.com/office/powerpoint/2010/main" val="232924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696733A0-0340-9215-F688-1CAAE949565C}"/>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864BC6A9-864C-D46E-BBCE-81A759E7A733}"/>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3C9DD32F-21DE-18EE-3E7F-56E9BC5727F1}"/>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2500" dirty="0">
                <a:solidFill>
                  <a:srgbClr val="F3F3F3"/>
                </a:solidFill>
                <a:latin typeface="Montserrat"/>
                <a:sym typeface="Montserrat"/>
              </a:rPr>
              <a:t>CA, quantités, stocks, taux de marge et correlations</a:t>
            </a:r>
            <a:endParaRPr dirty="0"/>
          </a:p>
        </p:txBody>
      </p:sp>
      <p:sp>
        <p:nvSpPr>
          <p:cNvPr id="89" name="Google Shape;89;p7">
            <a:extLst>
              <a:ext uri="{FF2B5EF4-FFF2-40B4-BE49-F238E27FC236}">
                <a16:creationId xmlns:a16="http://schemas.microsoft.com/office/drawing/2014/main" id="{D383E000-5C9A-6C0B-251E-0F4E594FB7DB}"/>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F583D400-F520-F8A7-C7E0-1BA87B8807FD}"/>
              </a:ext>
            </a:extLst>
          </p:cNvPr>
          <p:cNvSpPr txBox="1">
            <a:spLocks noGrp="1"/>
          </p:cNvSpPr>
          <p:nvPr>
            <p:ph type="body" idx="1"/>
          </p:nvPr>
        </p:nvSpPr>
        <p:spPr>
          <a:xfrm>
            <a:off x="557278" y="1528607"/>
            <a:ext cx="7692947" cy="110459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Clr>
                <a:srgbClr val="999999"/>
              </a:buClr>
              <a:buSzPts val="1800"/>
              <a:buFont typeface="Montserrat"/>
              <a:buChar char="●"/>
            </a:pPr>
            <a:r>
              <a:rPr lang="fr-FR" sz="1300" i="1" dirty="0">
                <a:solidFill>
                  <a:schemeClr val="tx1"/>
                </a:solidFill>
                <a:latin typeface="Montserrat"/>
                <a:ea typeface="Montserrat"/>
                <a:cs typeface="Montserrat"/>
                <a:sym typeface="Montserrat"/>
              </a:rPr>
              <a:t>Nous avons utilisé la méthode des indicateurs en statistiques dans notre étude.</a:t>
            </a:r>
          </a:p>
          <a:p>
            <a:pPr marL="457200" marR="0" lvl="0" indent="-342900" algn="l" rtl="0">
              <a:lnSpc>
                <a:spcPct val="115000"/>
              </a:lnSpc>
              <a:spcBef>
                <a:spcPts val="0"/>
              </a:spcBef>
              <a:spcAft>
                <a:spcPts val="0"/>
              </a:spcAft>
              <a:buClr>
                <a:srgbClr val="999999"/>
              </a:buClr>
              <a:buSzPts val="1800"/>
              <a:buFont typeface="Montserrat"/>
              <a:buChar char="●"/>
            </a:pPr>
            <a:r>
              <a:rPr lang="fr-FR" sz="1300" i="1" dirty="0">
                <a:solidFill>
                  <a:schemeClr val="tx1"/>
                </a:solidFill>
                <a:latin typeface="Montserrat"/>
                <a:ea typeface="Montserrat"/>
                <a:cs typeface="Montserrat"/>
                <a:sym typeface="Montserrat"/>
              </a:rPr>
              <a:t>Ce graphique représente les 20 premiers articles en termes de CA</a:t>
            </a:r>
          </a:p>
          <a:p>
            <a:pPr marL="457200" marR="0" lvl="0" indent="-342900" algn="l" rtl="0">
              <a:lnSpc>
                <a:spcPct val="115000"/>
              </a:lnSpc>
              <a:spcBef>
                <a:spcPts val="0"/>
              </a:spcBef>
              <a:spcAft>
                <a:spcPts val="0"/>
              </a:spcAft>
              <a:buClr>
                <a:srgbClr val="999999"/>
              </a:buClr>
              <a:buSzPts val="1800"/>
              <a:buFont typeface="Montserrat"/>
              <a:buChar char="●"/>
            </a:pPr>
            <a:r>
              <a:rPr lang="fr-FR" sz="1300" dirty="0">
                <a:solidFill>
                  <a:srgbClr val="434343"/>
                </a:solidFill>
                <a:latin typeface="Montserrat"/>
                <a:ea typeface="Montserrat"/>
                <a:cs typeface="Montserrat"/>
                <a:sym typeface="Montserrat"/>
              </a:rPr>
              <a:t>Ce graphique a ses limites car il ne prend pas en compte la quantité et la marge associée de ce classement</a:t>
            </a:r>
          </a:p>
        </p:txBody>
      </p:sp>
      <p:pic>
        <p:nvPicPr>
          <p:cNvPr id="4" name="Image 3">
            <a:extLst>
              <a:ext uri="{FF2B5EF4-FFF2-40B4-BE49-F238E27FC236}">
                <a16:creationId xmlns:a16="http://schemas.microsoft.com/office/drawing/2014/main" id="{4AF3FF29-CDCA-C011-F167-5F6B46D00A7F}"/>
              </a:ext>
            </a:extLst>
          </p:cNvPr>
          <p:cNvPicPr>
            <a:picLocks noChangeAspect="1"/>
          </p:cNvPicPr>
          <p:nvPr/>
        </p:nvPicPr>
        <p:blipFill>
          <a:blip r:embed="rId3"/>
          <a:stretch>
            <a:fillRect/>
          </a:stretch>
        </p:blipFill>
        <p:spPr>
          <a:xfrm>
            <a:off x="1773992" y="2645315"/>
            <a:ext cx="5259518" cy="2160935"/>
          </a:xfrm>
          <a:prstGeom prst="rect">
            <a:avLst/>
          </a:prstGeom>
        </p:spPr>
      </p:pic>
    </p:spTree>
    <p:extLst>
      <p:ext uri="{BB962C8B-B14F-4D97-AF65-F5344CB8AC3E}">
        <p14:creationId xmlns:p14="http://schemas.microsoft.com/office/powerpoint/2010/main" val="1691833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7"/>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2500" dirty="0">
                <a:solidFill>
                  <a:srgbClr val="F3F3F3"/>
                </a:solidFill>
                <a:latin typeface="Montserrat"/>
                <a:sym typeface="Montserrat"/>
              </a:rPr>
              <a:t>CA, quantités, stocks, taux de marge et correlations</a:t>
            </a:r>
            <a:endParaRPr dirty="0"/>
          </a:p>
        </p:txBody>
      </p:sp>
      <p:sp>
        <p:nvSpPr>
          <p:cNvPr id="89" name="Google Shape;89;p7"/>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p:cNvSpPr txBox="1">
            <a:spLocks noGrp="1"/>
          </p:cNvSpPr>
          <p:nvPr>
            <p:ph type="body" idx="1"/>
          </p:nvPr>
        </p:nvSpPr>
        <p:spPr>
          <a:xfrm>
            <a:off x="557278" y="1528607"/>
            <a:ext cx="7692947" cy="1104590"/>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
                <a:srgbClr val="999999"/>
              </a:buClr>
              <a:buSzPts val="1800"/>
              <a:buFont typeface="Montserrat"/>
              <a:buChar char="●"/>
            </a:pPr>
            <a:r>
              <a:rPr lang="fr-FR" sz="1200" i="1" dirty="0">
                <a:solidFill>
                  <a:schemeClr val="tx1"/>
                </a:solidFill>
                <a:latin typeface="Montserrat"/>
                <a:ea typeface="Montserrat"/>
                <a:cs typeface="Montserrat"/>
                <a:sym typeface="Montserrat"/>
              </a:rPr>
              <a:t>Nous avons utilisé la méthode des indicateurs en statistiques dans notre étude.</a:t>
            </a:r>
          </a:p>
          <a:p>
            <a:pPr marL="457200" marR="0" lvl="0" indent="-342900" algn="l" rtl="0">
              <a:lnSpc>
                <a:spcPct val="115000"/>
              </a:lnSpc>
              <a:spcBef>
                <a:spcPts val="0"/>
              </a:spcBef>
              <a:spcAft>
                <a:spcPts val="0"/>
              </a:spcAft>
              <a:buClr>
                <a:srgbClr val="999999"/>
              </a:buClr>
              <a:buSzPts val="1800"/>
              <a:buFont typeface="Montserrat"/>
              <a:buChar char="●"/>
            </a:pPr>
            <a:r>
              <a:rPr lang="fr-FR" sz="1200" i="1" dirty="0">
                <a:solidFill>
                  <a:schemeClr val="tx1"/>
                </a:solidFill>
                <a:latin typeface="Montserrat"/>
                <a:ea typeface="Montserrat"/>
                <a:cs typeface="Montserrat"/>
                <a:sym typeface="Montserrat"/>
              </a:rPr>
              <a:t>L’analyse du chiffre d'affaires en termes de quantité est représentée sur ce graphique</a:t>
            </a:r>
            <a:endParaRPr sz="1200" i="1" dirty="0">
              <a:solidFill>
                <a:schemeClr val="tx1"/>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999999"/>
              </a:buClr>
              <a:buSzPts val="1800"/>
              <a:buFont typeface="Montserrat"/>
              <a:buChar char="●"/>
            </a:pPr>
            <a:r>
              <a:rPr lang="fr-FR" sz="1200" dirty="0">
                <a:solidFill>
                  <a:srgbClr val="434343"/>
                </a:solidFill>
                <a:latin typeface="Montserrat"/>
                <a:ea typeface="Montserrat"/>
                <a:cs typeface="Montserrat"/>
                <a:sym typeface="Montserrat"/>
              </a:rPr>
              <a:t>Ce graphique a ses limites car il ne prend pas en compte le CA en montant pour ce classement ni même la marge gagnée par ces produits</a:t>
            </a:r>
            <a:endParaRPr sz="1200" dirty="0">
              <a:solidFill>
                <a:srgbClr val="434343"/>
              </a:solidFill>
              <a:latin typeface="Montserrat"/>
              <a:ea typeface="Montserrat"/>
              <a:cs typeface="Montserrat"/>
              <a:sym typeface="Montserrat"/>
            </a:endParaRPr>
          </a:p>
        </p:txBody>
      </p:sp>
      <p:pic>
        <p:nvPicPr>
          <p:cNvPr id="3" name="Image 2">
            <a:extLst>
              <a:ext uri="{FF2B5EF4-FFF2-40B4-BE49-F238E27FC236}">
                <a16:creationId xmlns:a16="http://schemas.microsoft.com/office/drawing/2014/main" id="{6BE681CA-3E2F-BFF3-5B19-EC0DF91B0993}"/>
              </a:ext>
            </a:extLst>
          </p:cNvPr>
          <p:cNvPicPr>
            <a:picLocks noChangeAspect="1"/>
          </p:cNvPicPr>
          <p:nvPr/>
        </p:nvPicPr>
        <p:blipFill>
          <a:blip r:embed="rId3"/>
          <a:stretch>
            <a:fillRect/>
          </a:stretch>
        </p:blipFill>
        <p:spPr>
          <a:xfrm>
            <a:off x="66121" y="2707949"/>
            <a:ext cx="8520600" cy="243555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15CBA22F-13EB-6DBC-364B-530A8CD55F5B}"/>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C3AB7907-1649-99C5-445E-4133D2CE4D99}"/>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357D2DF7-6577-27C3-48BC-339204FB3679}"/>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2500" dirty="0">
                <a:solidFill>
                  <a:srgbClr val="F3F3F3"/>
                </a:solidFill>
                <a:latin typeface="Montserrat"/>
                <a:sym typeface="Montserrat"/>
              </a:rPr>
              <a:t>CA, quantités, stocks, taux de marge et correlations</a:t>
            </a:r>
            <a:endParaRPr dirty="0"/>
          </a:p>
        </p:txBody>
      </p:sp>
      <p:sp>
        <p:nvSpPr>
          <p:cNvPr id="89" name="Google Shape;89;p7">
            <a:extLst>
              <a:ext uri="{FF2B5EF4-FFF2-40B4-BE49-F238E27FC236}">
                <a16:creationId xmlns:a16="http://schemas.microsoft.com/office/drawing/2014/main" id="{7CD6AD4D-6674-D070-3873-E9FAC7BC8F14}"/>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9C928BCA-9E27-53C6-A62B-2693A21DE53D}"/>
              </a:ext>
            </a:extLst>
          </p:cNvPr>
          <p:cNvSpPr txBox="1">
            <a:spLocks noGrp="1"/>
          </p:cNvSpPr>
          <p:nvPr>
            <p:ph type="body" idx="1"/>
          </p:nvPr>
        </p:nvSpPr>
        <p:spPr>
          <a:xfrm>
            <a:off x="557278" y="1528607"/>
            <a:ext cx="7692947" cy="1104590"/>
          </a:xfrm>
          <a:prstGeom prst="rect">
            <a:avLst/>
          </a:prstGeom>
          <a:noFill/>
          <a:ln>
            <a:noFill/>
          </a:ln>
        </p:spPr>
        <p:txBody>
          <a:bodyPr spcFirstLastPara="1" wrap="square" lIns="91425" tIns="91425" rIns="91425" bIns="91425" anchor="t" anchorCtr="0">
            <a:normAutofit fontScale="92500"/>
          </a:bodyPr>
          <a:lstStyle/>
          <a:p>
            <a:pPr marL="457200" marR="0" lvl="0" indent="-342900" algn="l" rtl="0">
              <a:lnSpc>
                <a:spcPct val="115000"/>
              </a:lnSpc>
              <a:spcBef>
                <a:spcPts val="0"/>
              </a:spcBef>
              <a:spcAft>
                <a:spcPts val="0"/>
              </a:spcAft>
              <a:buClr>
                <a:srgbClr val="999999"/>
              </a:buClr>
              <a:buSzPts val="1800"/>
              <a:buFont typeface="Montserrat"/>
              <a:buChar char="●"/>
            </a:pPr>
            <a:r>
              <a:rPr lang="fr-FR" sz="1200" i="1" dirty="0">
                <a:solidFill>
                  <a:schemeClr val="tx1"/>
                </a:solidFill>
                <a:latin typeface="Montserrat"/>
                <a:ea typeface="Montserrat"/>
                <a:cs typeface="Montserrat"/>
                <a:sym typeface="Montserrat"/>
              </a:rPr>
              <a:t>Nous avons utilisé la méthode des indicateurs en statistiques dans notre étude.</a:t>
            </a:r>
          </a:p>
          <a:p>
            <a:pPr marL="457200" marR="0" lvl="0" indent="-342900" algn="l" rtl="0">
              <a:lnSpc>
                <a:spcPct val="115000"/>
              </a:lnSpc>
              <a:spcBef>
                <a:spcPts val="0"/>
              </a:spcBef>
              <a:spcAft>
                <a:spcPts val="0"/>
              </a:spcAft>
              <a:buClr>
                <a:srgbClr val="999999"/>
              </a:buClr>
              <a:buSzPts val="1800"/>
              <a:buFont typeface="Montserrat"/>
              <a:buChar char="●"/>
            </a:pPr>
            <a:r>
              <a:rPr lang="fr-FR" sz="1200" i="1" dirty="0">
                <a:solidFill>
                  <a:schemeClr val="tx1"/>
                </a:solidFill>
                <a:latin typeface="Montserrat"/>
                <a:ea typeface="Montserrat"/>
                <a:cs typeface="Montserrat"/>
                <a:sym typeface="Montserrat"/>
              </a:rPr>
              <a:t>Ce graphique représente les 20 premiers articles qui ont le plus de rotation de stock</a:t>
            </a:r>
            <a:r>
              <a:rPr lang="fr-FR" sz="1200" i="1" dirty="0">
                <a:solidFill>
                  <a:srgbClr val="999999"/>
                </a:solidFill>
                <a:latin typeface="Montserrat"/>
                <a:ea typeface="Montserrat"/>
                <a:cs typeface="Montserrat"/>
                <a:sym typeface="Montserrat"/>
              </a:rPr>
              <a:t> </a:t>
            </a:r>
            <a:r>
              <a:rPr lang="fr-FR" sz="1200" i="1" dirty="0">
                <a:solidFill>
                  <a:schemeClr val="tx1"/>
                </a:solidFill>
                <a:latin typeface="Montserrat"/>
                <a:ea typeface="Montserrat"/>
                <a:cs typeface="Montserrat"/>
                <a:sym typeface="Montserrat"/>
              </a:rPr>
              <a:t>(stock/ventes)</a:t>
            </a:r>
          </a:p>
          <a:p>
            <a:pPr marL="457200" marR="0" lvl="0" indent="-342900" algn="l" rtl="0">
              <a:lnSpc>
                <a:spcPct val="115000"/>
              </a:lnSpc>
              <a:spcBef>
                <a:spcPts val="0"/>
              </a:spcBef>
              <a:spcAft>
                <a:spcPts val="0"/>
              </a:spcAft>
              <a:buClr>
                <a:srgbClr val="999999"/>
              </a:buClr>
              <a:buSzPts val="1800"/>
              <a:buFont typeface="Montserrat"/>
              <a:buChar char="●"/>
            </a:pPr>
            <a:r>
              <a:rPr lang="fr-FR" sz="1200" i="1" dirty="0">
                <a:solidFill>
                  <a:schemeClr val="tx1"/>
                </a:solidFill>
                <a:latin typeface="Montserrat"/>
                <a:ea typeface="Montserrat"/>
                <a:cs typeface="Montserrat"/>
                <a:sym typeface="Montserrat"/>
              </a:rPr>
              <a:t>Ce classement nous indique le temps passé par un produit en stock avant son épuisement total, cela peut nous aider sur la gestion du stock mais aucune indication sur le CA ou le type de produit.</a:t>
            </a:r>
            <a:endParaRPr sz="1200" i="1" dirty="0">
              <a:solidFill>
                <a:schemeClr val="tx1"/>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999999"/>
              </a:buClr>
              <a:buSzPts val="1800"/>
              <a:buFont typeface="Montserrat"/>
              <a:buChar char="●"/>
            </a:pPr>
            <a:endParaRPr dirty="0">
              <a:solidFill>
                <a:srgbClr val="434343"/>
              </a:solidFill>
              <a:latin typeface="Montserrat"/>
              <a:ea typeface="Montserrat"/>
              <a:cs typeface="Montserrat"/>
              <a:sym typeface="Montserrat"/>
            </a:endParaRPr>
          </a:p>
        </p:txBody>
      </p:sp>
      <p:pic>
        <p:nvPicPr>
          <p:cNvPr id="4" name="Image 3">
            <a:extLst>
              <a:ext uri="{FF2B5EF4-FFF2-40B4-BE49-F238E27FC236}">
                <a16:creationId xmlns:a16="http://schemas.microsoft.com/office/drawing/2014/main" id="{34F20D27-2E3B-92FC-51B1-0CD61FAC23C8}"/>
              </a:ext>
            </a:extLst>
          </p:cNvPr>
          <p:cNvPicPr>
            <a:picLocks noChangeAspect="1"/>
          </p:cNvPicPr>
          <p:nvPr/>
        </p:nvPicPr>
        <p:blipFill>
          <a:blip r:embed="rId3"/>
          <a:stretch>
            <a:fillRect/>
          </a:stretch>
        </p:blipFill>
        <p:spPr>
          <a:xfrm>
            <a:off x="0" y="2571750"/>
            <a:ext cx="8873593" cy="2378385"/>
          </a:xfrm>
          <a:prstGeom prst="rect">
            <a:avLst/>
          </a:prstGeom>
        </p:spPr>
      </p:pic>
    </p:spTree>
    <p:extLst>
      <p:ext uri="{BB962C8B-B14F-4D97-AF65-F5344CB8AC3E}">
        <p14:creationId xmlns:p14="http://schemas.microsoft.com/office/powerpoint/2010/main" val="3130983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49E38CED-02D8-8AA9-B528-936F3667C2D0}"/>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17DF249F-B547-2D2C-E8FF-5B834634215E}"/>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BC217A69-3BA8-4DA2-563B-42B45C9B6F19}"/>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2500" dirty="0">
                <a:solidFill>
                  <a:srgbClr val="F3F3F3"/>
                </a:solidFill>
                <a:latin typeface="Montserrat"/>
                <a:sym typeface="Montserrat"/>
              </a:rPr>
              <a:t>CA, quantités, stocks, taux de marge et correlations</a:t>
            </a:r>
            <a:endParaRPr dirty="0"/>
          </a:p>
        </p:txBody>
      </p:sp>
      <p:sp>
        <p:nvSpPr>
          <p:cNvPr id="89" name="Google Shape;89;p7">
            <a:extLst>
              <a:ext uri="{FF2B5EF4-FFF2-40B4-BE49-F238E27FC236}">
                <a16:creationId xmlns:a16="http://schemas.microsoft.com/office/drawing/2014/main" id="{F7AE1D82-5F5C-AD32-0008-4B05DB05DC53}"/>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67CA27E1-8D4A-5D66-09AA-A4B9E6A858A4}"/>
              </a:ext>
            </a:extLst>
          </p:cNvPr>
          <p:cNvSpPr txBox="1">
            <a:spLocks noGrp="1"/>
          </p:cNvSpPr>
          <p:nvPr>
            <p:ph type="body" idx="1"/>
          </p:nvPr>
        </p:nvSpPr>
        <p:spPr>
          <a:xfrm>
            <a:off x="557278" y="1528607"/>
            <a:ext cx="7692947" cy="1104590"/>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
                <a:srgbClr val="999999"/>
              </a:buClr>
              <a:buSzPts val="1800"/>
              <a:buFont typeface="Montserrat"/>
              <a:buChar char="●"/>
            </a:pPr>
            <a:r>
              <a:rPr lang="fr-FR" sz="1300" i="1" dirty="0">
                <a:solidFill>
                  <a:schemeClr val="tx1"/>
                </a:solidFill>
                <a:latin typeface="Montserrat"/>
                <a:ea typeface="Montserrat"/>
                <a:cs typeface="Montserrat"/>
                <a:sym typeface="Montserrat"/>
              </a:rPr>
              <a:t>Nous avons utilisé la méthode des indicateurs en statistiques dans notre étude.</a:t>
            </a:r>
          </a:p>
          <a:p>
            <a:pPr marL="457200" marR="0" lvl="0" indent="-342900" algn="l" rtl="0">
              <a:lnSpc>
                <a:spcPct val="115000"/>
              </a:lnSpc>
              <a:spcBef>
                <a:spcPts val="0"/>
              </a:spcBef>
              <a:spcAft>
                <a:spcPts val="0"/>
              </a:spcAft>
              <a:buClr>
                <a:srgbClr val="999999"/>
              </a:buClr>
              <a:buSzPts val="1800"/>
              <a:buFont typeface="Montserrat"/>
              <a:buChar char="●"/>
            </a:pPr>
            <a:r>
              <a:rPr lang="fr-FR" sz="1300" i="1" dirty="0">
                <a:solidFill>
                  <a:schemeClr val="tx1"/>
                </a:solidFill>
                <a:latin typeface="Montserrat"/>
                <a:ea typeface="Montserrat"/>
                <a:cs typeface="Montserrat"/>
                <a:sym typeface="Montserrat"/>
              </a:rPr>
              <a:t>Ce graphique représente le taux de marge par type de produit </a:t>
            </a:r>
            <a:endParaRPr sz="1300" i="1" dirty="0">
              <a:solidFill>
                <a:schemeClr val="tx1"/>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999999"/>
              </a:buClr>
              <a:buSzPts val="1800"/>
              <a:buFont typeface="Montserrat"/>
              <a:buChar char="●"/>
            </a:pPr>
            <a:r>
              <a:rPr lang="fr-FR" sz="1300" dirty="0">
                <a:solidFill>
                  <a:srgbClr val="434343"/>
                </a:solidFill>
                <a:latin typeface="Montserrat"/>
                <a:ea typeface="Montserrat"/>
                <a:cs typeface="Montserrat"/>
                <a:sym typeface="Montserrat"/>
              </a:rPr>
              <a:t>Ce classement nous représente bien quel type de produit vendu a le plus de marge, mais il n’y a pas d’élément sur le volume en CA ou quantité</a:t>
            </a:r>
            <a:endParaRPr sz="1300" dirty="0">
              <a:solidFill>
                <a:srgbClr val="434343"/>
              </a:solidFill>
              <a:latin typeface="Montserrat"/>
              <a:ea typeface="Montserrat"/>
              <a:cs typeface="Montserrat"/>
              <a:sym typeface="Montserrat"/>
            </a:endParaRPr>
          </a:p>
        </p:txBody>
      </p:sp>
      <p:pic>
        <p:nvPicPr>
          <p:cNvPr id="3" name="Image 2">
            <a:extLst>
              <a:ext uri="{FF2B5EF4-FFF2-40B4-BE49-F238E27FC236}">
                <a16:creationId xmlns:a16="http://schemas.microsoft.com/office/drawing/2014/main" id="{F0D29869-BDBC-E4A8-AB47-A626E2262194}"/>
              </a:ext>
            </a:extLst>
          </p:cNvPr>
          <p:cNvPicPr>
            <a:picLocks noChangeAspect="1"/>
          </p:cNvPicPr>
          <p:nvPr/>
        </p:nvPicPr>
        <p:blipFill>
          <a:blip r:embed="rId3"/>
          <a:stretch>
            <a:fillRect/>
          </a:stretch>
        </p:blipFill>
        <p:spPr>
          <a:xfrm>
            <a:off x="0" y="2509861"/>
            <a:ext cx="9144000" cy="2928854"/>
          </a:xfrm>
          <a:prstGeom prst="rect">
            <a:avLst/>
          </a:prstGeom>
        </p:spPr>
      </p:pic>
    </p:spTree>
    <p:extLst>
      <p:ext uri="{BB962C8B-B14F-4D97-AF65-F5344CB8AC3E}">
        <p14:creationId xmlns:p14="http://schemas.microsoft.com/office/powerpoint/2010/main" val="2209281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6222472D-A668-A318-AB3A-2DAA765F2FC6}"/>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5E73485F-6214-9A77-F6E4-ED1CB903E004}"/>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2A4E97EA-12F5-BF94-2C5C-0FAFF4072606}"/>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2500" dirty="0">
                <a:solidFill>
                  <a:srgbClr val="F3F3F3"/>
                </a:solidFill>
                <a:latin typeface="Montserrat"/>
                <a:sym typeface="Montserrat"/>
              </a:rPr>
              <a:t>CA, quantités, stocks, taux de marge et correlations</a:t>
            </a:r>
            <a:endParaRPr dirty="0"/>
          </a:p>
        </p:txBody>
      </p:sp>
      <p:sp>
        <p:nvSpPr>
          <p:cNvPr id="89" name="Google Shape;89;p7">
            <a:extLst>
              <a:ext uri="{FF2B5EF4-FFF2-40B4-BE49-F238E27FC236}">
                <a16:creationId xmlns:a16="http://schemas.microsoft.com/office/drawing/2014/main" id="{AA0A679D-80A5-3BA1-EF39-00D569AB5C96}"/>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29EB8D53-BFAD-C606-AD01-1E0691389658}"/>
              </a:ext>
            </a:extLst>
          </p:cNvPr>
          <p:cNvSpPr txBox="1">
            <a:spLocks noGrp="1"/>
          </p:cNvSpPr>
          <p:nvPr>
            <p:ph type="body" idx="1"/>
          </p:nvPr>
        </p:nvSpPr>
        <p:spPr>
          <a:xfrm>
            <a:off x="557278" y="1528607"/>
            <a:ext cx="7692947" cy="1104590"/>
          </a:xfrm>
          <a:prstGeom prst="rect">
            <a:avLst/>
          </a:prstGeom>
          <a:noFill/>
          <a:ln>
            <a:noFill/>
          </a:ln>
        </p:spPr>
        <p:txBody>
          <a:bodyPr spcFirstLastPara="1" wrap="square" lIns="91425" tIns="91425" rIns="91425" bIns="91425" anchor="t" anchorCtr="0">
            <a:normAutofit fontScale="85000" lnSpcReduction="20000"/>
          </a:bodyPr>
          <a:lstStyle/>
          <a:p>
            <a:pPr marL="457200" marR="0" lvl="0" indent="-342900" algn="l" rtl="0">
              <a:lnSpc>
                <a:spcPct val="115000"/>
              </a:lnSpc>
              <a:spcBef>
                <a:spcPts val="0"/>
              </a:spcBef>
              <a:spcAft>
                <a:spcPts val="0"/>
              </a:spcAft>
              <a:buClr>
                <a:srgbClr val="999999"/>
              </a:buClr>
              <a:buSzPts val="1800"/>
              <a:buFont typeface="Montserrat"/>
              <a:buChar char="●"/>
            </a:pPr>
            <a:r>
              <a:rPr lang="fr-FR" i="1" dirty="0">
                <a:solidFill>
                  <a:schemeClr val="tx1"/>
                </a:solidFill>
                <a:latin typeface="Montserrat"/>
                <a:ea typeface="Montserrat"/>
                <a:cs typeface="Montserrat"/>
                <a:sym typeface="Montserrat"/>
              </a:rPr>
              <a:t>Nous avons utilisé la méthode des indicateurs en statistiques dans notre étude.</a:t>
            </a:r>
          </a:p>
          <a:p>
            <a:pPr marL="457200" marR="0" lvl="0" indent="-342900" algn="l" rtl="0">
              <a:lnSpc>
                <a:spcPct val="115000"/>
              </a:lnSpc>
              <a:spcBef>
                <a:spcPts val="0"/>
              </a:spcBef>
              <a:spcAft>
                <a:spcPts val="0"/>
              </a:spcAft>
              <a:buClr>
                <a:srgbClr val="999999"/>
              </a:buClr>
              <a:buSzPts val="1800"/>
              <a:buFont typeface="Montserrat"/>
              <a:buChar char="●"/>
            </a:pPr>
            <a:r>
              <a:rPr lang="fr-FR" i="1" dirty="0">
                <a:solidFill>
                  <a:schemeClr val="tx1"/>
                </a:solidFill>
                <a:latin typeface="Montserrat"/>
                <a:ea typeface="Montserrat"/>
                <a:cs typeface="Montserrat"/>
                <a:sym typeface="Montserrat"/>
              </a:rPr>
              <a:t>Ce graphique représente la corrélation entre plusieurs variables</a:t>
            </a:r>
            <a:endParaRPr i="1" dirty="0">
              <a:solidFill>
                <a:schemeClr val="tx1"/>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999999"/>
              </a:buClr>
              <a:buSzPts val="1800"/>
              <a:buFont typeface="Montserrat"/>
              <a:buChar char="●"/>
            </a:pPr>
            <a:r>
              <a:rPr lang="fr-FR" dirty="0">
                <a:solidFill>
                  <a:srgbClr val="434343"/>
                </a:solidFill>
                <a:latin typeface="Montserrat"/>
                <a:ea typeface="Montserrat"/>
                <a:cs typeface="Montserrat"/>
                <a:sym typeface="Montserrat"/>
              </a:rPr>
              <a:t>Plus elle est proche de 1 plus il y a une corrélation</a:t>
            </a:r>
            <a:endParaRPr dirty="0">
              <a:solidFill>
                <a:srgbClr val="434343"/>
              </a:solidFill>
              <a:latin typeface="Montserrat"/>
              <a:ea typeface="Montserrat"/>
              <a:cs typeface="Montserrat"/>
              <a:sym typeface="Montserrat"/>
            </a:endParaRPr>
          </a:p>
        </p:txBody>
      </p:sp>
      <p:pic>
        <p:nvPicPr>
          <p:cNvPr id="4" name="Image 3">
            <a:extLst>
              <a:ext uri="{FF2B5EF4-FFF2-40B4-BE49-F238E27FC236}">
                <a16:creationId xmlns:a16="http://schemas.microsoft.com/office/drawing/2014/main" id="{13566B9F-A4D8-0A8A-564A-BDB6887AADE8}"/>
              </a:ext>
            </a:extLst>
          </p:cNvPr>
          <p:cNvPicPr>
            <a:picLocks noChangeAspect="1"/>
          </p:cNvPicPr>
          <p:nvPr/>
        </p:nvPicPr>
        <p:blipFill>
          <a:blip r:embed="rId3"/>
          <a:stretch>
            <a:fillRect/>
          </a:stretch>
        </p:blipFill>
        <p:spPr>
          <a:xfrm>
            <a:off x="1238525" y="2571750"/>
            <a:ext cx="3059184" cy="2404248"/>
          </a:xfrm>
          <a:prstGeom prst="rect">
            <a:avLst/>
          </a:prstGeom>
        </p:spPr>
      </p:pic>
    </p:spTree>
    <p:extLst>
      <p:ext uri="{BB962C8B-B14F-4D97-AF65-F5344CB8AC3E}">
        <p14:creationId xmlns:p14="http://schemas.microsoft.com/office/powerpoint/2010/main" val="2581899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13f9e8f1567_0_0"/>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g13f9e8f1567_0_0"/>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a:solidFill>
                  <a:srgbClr val="F3F3F3"/>
                </a:solidFill>
                <a:latin typeface="Montserrat"/>
                <a:ea typeface="Montserrat"/>
                <a:cs typeface="Montserrat"/>
                <a:sym typeface="Montserrat"/>
              </a:rPr>
              <a:t>Actions pour la suite</a:t>
            </a:r>
            <a:endParaRPr/>
          </a:p>
        </p:txBody>
      </p:sp>
      <p:sp>
        <p:nvSpPr>
          <p:cNvPr id="97" name="Google Shape;97;g13f9e8f1567_0_0"/>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g13f9e8f1567_0_0"/>
          <p:cNvSpPr txBox="1">
            <a:spLocks noGrp="1"/>
          </p:cNvSpPr>
          <p:nvPr>
            <p:ph type="body" idx="1"/>
          </p:nvPr>
        </p:nvSpPr>
        <p:spPr>
          <a:xfrm>
            <a:off x="557274" y="1528600"/>
            <a:ext cx="8316000" cy="3416400"/>
          </a:xfrm>
          <a:prstGeom prst="rect">
            <a:avLst/>
          </a:prstGeom>
          <a:noFill/>
          <a:ln>
            <a:noFill/>
          </a:ln>
        </p:spPr>
        <p:txBody>
          <a:bodyPr spcFirstLastPara="1" wrap="square" lIns="91425" tIns="91425" rIns="91425" bIns="91425" anchor="t" anchorCtr="0">
            <a:normAutofit/>
          </a:bodyPr>
          <a:lstStyle/>
          <a:p>
            <a:pPr marL="285750" lvl="0" indent="-285750" algn="l" rtl="0">
              <a:lnSpc>
                <a:spcPct val="115000"/>
              </a:lnSpc>
              <a:spcBef>
                <a:spcPts val="0"/>
              </a:spcBef>
              <a:spcAft>
                <a:spcPts val="0"/>
              </a:spcAft>
              <a:buFontTx/>
              <a:buChar char="-"/>
            </a:pPr>
            <a:r>
              <a:rPr lang="fr-FR" i="1" dirty="0">
                <a:solidFill>
                  <a:schemeClr val="tx1"/>
                </a:solidFill>
                <a:latin typeface="Montserrat"/>
                <a:ea typeface="Montserrat"/>
                <a:cs typeface="Montserrat"/>
                <a:sym typeface="Montserrat"/>
              </a:rPr>
              <a:t>Investiguer les articles non connu 0 et 1 par le métier</a:t>
            </a:r>
          </a:p>
          <a:p>
            <a:pPr marL="285750" lvl="0" indent="-285750" algn="l" rtl="0">
              <a:lnSpc>
                <a:spcPct val="115000"/>
              </a:lnSpc>
              <a:spcBef>
                <a:spcPts val="0"/>
              </a:spcBef>
              <a:spcAft>
                <a:spcPts val="0"/>
              </a:spcAft>
              <a:buFontTx/>
              <a:buChar char="-"/>
            </a:pPr>
            <a:r>
              <a:rPr lang="fr-FR" i="1" dirty="0">
                <a:solidFill>
                  <a:schemeClr val="tx1"/>
                </a:solidFill>
                <a:latin typeface="Montserrat"/>
                <a:ea typeface="Montserrat"/>
                <a:cs typeface="Montserrat"/>
                <a:sym typeface="Montserrat"/>
              </a:rPr>
              <a:t>Vérifier les lignes 449 et 573 ou le </a:t>
            </a:r>
            <a:r>
              <a:rPr lang="fr-FR" i="1" dirty="0" err="1">
                <a:solidFill>
                  <a:schemeClr val="tx1"/>
                </a:solidFill>
                <a:latin typeface="Montserrat"/>
                <a:ea typeface="Montserrat"/>
                <a:cs typeface="Montserrat"/>
                <a:sym typeface="Montserrat"/>
              </a:rPr>
              <a:t>product_id</a:t>
            </a:r>
            <a:r>
              <a:rPr lang="fr-FR" i="1" dirty="0">
                <a:solidFill>
                  <a:schemeClr val="tx1"/>
                </a:solidFill>
                <a:latin typeface="Montserrat"/>
                <a:ea typeface="Montserrat"/>
                <a:cs typeface="Montserrat"/>
                <a:sym typeface="Montserrat"/>
              </a:rPr>
              <a:t> = 0</a:t>
            </a:r>
          </a:p>
          <a:p>
            <a:pPr marL="285750" lvl="0" indent="-285750" algn="l" rtl="0">
              <a:lnSpc>
                <a:spcPct val="115000"/>
              </a:lnSpc>
              <a:spcBef>
                <a:spcPts val="0"/>
              </a:spcBef>
              <a:spcAft>
                <a:spcPts val="0"/>
              </a:spcAft>
              <a:buFontTx/>
              <a:buChar char="-"/>
            </a:pPr>
            <a:r>
              <a:rPr lang="fr-FR" i="1" dirty="0">
                <a:solidFill>
                  <a:schemeClr val="tx1"/>
                </a:solidFill>
                <a:latin typeface="Montserrat"/>
                <a:ea typeface="Montserrat"/>
                <a:cs typeface="Montserrat"/>
                <a:sym typeface="Montserrat"/>
              </a:rPr>
              <a:t>Selon l’analyse, vérifier s’il faut garder les articles ne représentant que 20% du CA et/ou 20% de la quantité</a:t>
            </a:r>
          </a:p>
          <a:p>
            <a:pPr marL="285750" lvl="0" indent="-285750" algn="l" rtl="0">
              <a:lnSpc>
                <a:spcPct val="115000"/>
              </a:lnSpc>
              <a:spcBef>
                <a:spcPts val="0"/>
              </a:spcBef>
              <a:spcAft>
                <a:spcPts val="0"/>
              </a:spcAft>
              <a:buFontTx/>
              <a:buChar char="-"/>
            </a:pPr>
            <a:r>
              <a:rPr lang="fr-FR" i="1" dirty="0">
                <a:solidFill>
                  <a:schemeClr val="tx1"/>
                </a:solidFill>
                <a:latin typeface="Montserrat"/>
                <a:ea typeface="Montserrat"/>
                <a:cs typeface="Montserrat"/>
                <a:sym typeface="Montserrat"/>
              </a:rPr>
              <a:t>Analyser les 20 premiers articles en termes de rotation du stock en mois, si il faut les garder ou pas, vis à vis du cout du stockage.</a:t>
            </a:r>
          </a:p>
          <a:p>
            <a:pPr marL="285750" lvl="0" indent="-285750" algn="l" rtl="0">
              <a:lnSpc>
                <a:spcPct val="115000"/>
              </a:lnSpc>
              <a:spcBef>
                <a:spcPts val="0"/>
              </a:spcBef>
              <a:spcAft>
                <a:spcPts val="0"/>
              </a:spcAft>
              <a:buFontTx/>
              <a:buChar char="-"/>
            </a:pPr>
            <a:endParaRPr lang="fr-FR" i="1" dirty="0">
              <a:solidFill>
                <a:schemeClr val="tx1"/>
              </a:solidFill>
              <a:latin typeface="Montserrat"/>
              <a:ea typeface="Montserrat"/>
              <a:cs typeface="Montserrat"/>
              <a:sym typeface="Montserrat"/>
            </a:endParaRPr>
          </a:p>
          <a:p>
            <a:pPr marL="285750" lvl="0" indent="-285750" algn="l" rtl="0">
              <a:lnSpc>
                <a:spcPct val="115000"/>
              </a:lnSpc>
              <a:spcBef>
                <a:spcPts val="0"/>
              </a:spcBef>
              <a:spcAft>
                <a:spcPts val="0"/>
              </a:spcAft>
              <a:buFontTx/>
              <a:buChar char="-"/>
            </a:pPr>
            <a:endParaRPr lang="fr-FR" i="1" dirty="0">
              <a:solidFill>
                <a:srgbClr val="999999"/>
              </a:solidFill>
              <a:latin typeface="Montserrat"/>
              <a:ea typeface="Montserrat"/>
              <a:cs typeface="Montserrat"/>
              <a:sym typeface="Montserrat"/>
            </a:endParaRPr>
          </a:p>
          <a:p>
            <a:pPr marL="285750" lvl="0" indent="-285750" algn="l" rtl="0">
              <a:lnSpc>
                <a:spcPct val="115000"/>
              </a:lnSpc>
              <a:spcBef>
                <a:spcPts val="0"/>
              </a:spcBef>
              <a:spcAft>
                <a:spcPts val="0"/>
              </a:spcAft>
              <a:buFontTx/>
              <a:buChar char="-"/>
            </a:pPr>
            <a:endParaRPr lang="fr-FR" i="1" dirty="0">
              <a:solidFill>
                <a:srgbClr val="999999"/>
              </a:solidFill>
              <a:latin typeface="Montserrat"/>
              <a:ea typeface="Montserrat"/>
              <a:cs typeface="Montserrat"/>
              <a:sym typeface="Montserrat"/>
            </a:endParaRPr>
          </a:p>
          <a:p>
            <a:pPr marL="285750" lvl="0" indent="-285750" algn="l" rtl="0">
              <a:lnSpc>
                <a:spcPct val="115000"/>
              </a:lnSpc>
              <a:spcBef>
                <a:spcPts val="0"/>
              </a:spcBef>
              <a:spcAft>
                <a:spcPts val="0"/>
              </a:spcAft>
              <a:buFontTx/>
              <a:buChar char="-"/>
            </a:pPr>
            <a:endParaRPr i="1" dirty="0">
              <a:solidFill>
                <a:srgbClr val="999999"/>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13f9e8f1567_0_7"/>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g13f9e8f1567_0_7"/>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a:solidFill>
                  <a:srgbClr val="F3F3F3"/>
                </a:solidFill>
                <a:latin typeface="Montserrat"/>
                <a:ea typeface="Montserrat"/>
                <a:cs typeface="Montserrat"/>
                <a:sym typeface="Montserrat"/>
              </a:rPr>
              <a:t>Point sur les compétences apprises</a:t>
            </a:r>
            <a:endParaRPr/>
          </a:p>
        </p:txBody>
      </p:sp>
      <p:sp>
        <p:nvSpPr>
          <p:cNvPr id="105" name="Google Shape;105;g13f9e8f1567_0_7"/>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g13f9e8f1567_0_7"/>
          <p:cNvSpPr txBox="1">
            <a:spLocks noGrp="1"/>
          </p:cNvSpPr>
          <p:nvPr>
            <p:ph type="body" idx="1"/>
          </p:nvPr>
        </p:nvSpPr>
        <p:spPr>
          <a:xfrm>
            <a:off x="557274" y="1528600"/>
            <a:ext cx="83160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Clr>
                <a:srgbClr val="999999"/>
              </a:buClr>
              <a:buSzPts val="1800"/>
              <a:buFont typeface="Montserrat"/>
              <a:buChar char="●"/>
            </a:pPr>
            <a:r>
              <a:rPr lang="fr" i="1" dirty="0">
                <a:solidFill>
                  <a:schemeClr val="tx1"/>
                </a:solidFill>
                <a:latin typeface="Montserrat"/>
                <a:ea typeface="Montserrat"/>
                <a:cs typeface="Montserrat"/>
                <a:sym typeface="Montserrat"/>
              </a:rPr>
              <a:t>Nettoyage des données plus précis avec un but</a:t>
            </a:r>
          </a:p>
          <a:p>
            <a:pPr marL="457200" lvl="0" indent="-342900" algn="l" rtl="0">
              <a:lnSpc>
                <a:spcPct val="115000"/>
              </a:lnSpc>
              <a:spcBef>
                <a:spcPts val="0"/>
              </a:spcBef>
              <a:spcAft>
                <a:spcPts val="0"/>
              </a:spcAft>
              <a:buClr>
                <a:srgbClr val="999999"/>
              </a:buClr>
              <a:buSzPts val="1800"/>
              <a:buFont typeface="Montserrat"/>
              <a:buChar char="●"/>
            </a:pPr>
            <a:r>
              <a:rPr lang="fr-FR" i="1" dirty="0">
                <a:solidFill>
                  <a:schemeClr val="tx1"/>
                </a:solidFill>
                <a:latin typeface="Montserrat"/>
                <a:ea typeface="Montserrat"/>
                <a:cs typeface="Montserrat"/>
                <a:sym typeface="Montserrat"/>
              </a:rPr>
              <a:t>D</a:t>
            </a:r>
            <a:r>
              <a:rPr lang="fr" i="1" dirty="0">
                <a:solidFill>
                  <a:schemeClr val="tx1"/>
                </a:solidFill>
                <a:latin typeface="Montserrat"/>
                <a:ea typeface="Montserrat"/>
                <a:cs typeface="Montserrat"/>
                <a:sym typeface="Montserrat"/>
              </a:rPr>
              <a:t>e nouvelles fonctions sous python qui synthéthise (.info) très vite et de statistiques (describe)</a:t>
            </a:r>
            <a:endParaRPr i="1" dirty="0">
              <a:solidFill>
                <a:schemeClr val="tx1"/>
              </a:solidFill>
              <a:latin typeface="Montserrat"/>
              <a:ea typeface="Montserrat"/>
              <a:cs typeface="Montserrat"/>
              <a:sym typeface="Montserrat"/>
            </a:endParaRPr>
          </a:p>
          <a:p>
            <a:pPr marL="457200" lvl="0" indent="-342900" algn="l" rtl="0">
              <a:lnSpc>
                <a:spcPct val="115000"/>
              </a:lnSpc>
              <a:spcBef>
                <a:spcPts val="0"/>
              </a:spcBef>
              <a:spcAft>
                <a:spcPts val="0"/>
              </a:spcAft>
              <a:buClr>
                <a:srgbClr val="999999"/>
              </a:buClr>
              <a:buSzPts val="1800"/>
              <a:buFont typeface="Montserrat"/>
              <a:buChar char="●"/>
            </a:pPr>
            <a:r>
              <a:rPr lang="fr-FR" i="1" dirty="0">
                <a:solidFill>
                  <a:schemeClr val="tx1"/>
                </a:solidFill>
                <a:latin typeface="Montserrat"/>
                <a:ea typeface="Montserrat"/>
                <a:cs typeface="Montserrat"/>
                <a:sym typeface="Montserrat"/>
              </a:rPr>
              <a:t>Les relations entre les variables, parfois pas forcément explicite</a:t>
            </a:r>
            <a:endParaRPr i="1" dirty="0">
              <a:solidFill>
                <a:schemeClr val="tx1"/>
              </a:solidFill>
              <a:latin typeface="Montserrat"/>
              <a:ea typeface="Montserrat"/>
              <a:cs typeface="Montserrat"/>
              <a:sym typeface="Montserrat"/>
            </a:endParaRPr>
          </a:p>
          <a:p>
            <a:pPr marL="457200" lvl="0" indent="-342900" algn="l" rtl="0">
              <a:lnSpc>
                <a:spcPct val="115000"/>
              </a:lnSpc>
              <a:spcBef>
                <a:spcPts val="0"/>
              </a:spcBef>
              <a:spcAft>
                <a:spcPts val="0"/>
              </a:spcAft>
              <a:buClr>
                <a:srgbClr val="999999"/>
              </a:buClr>
              <a:buSzPts val="1800"/>
              <a:buFont typeface="Montserrat"/>
              <a:buChar char="●"/>
            </a:pPr>
            <a:r>
              <a:rPr lang="fr" i="1" dirty="0">
                <a:solidFill>
                  <a:schemeClr val="tx1"/>
                </a:solidFill>
                <a:latin typeface="Montserrat"/>
                <a:ea typeface="Montserrat"/>
                <a:cs typeface="Montserrat"/>
                <a:sym typeface="Montserrat"/>
              </a:rPr>
              <a:t>Besoin de plus d’entrainement sur les fonctions statistiques et corrélation par exemple.</a:t>
            </a:r>
            <a:endParaRPr i="1" dirty="0">
              <a:solidFill>
                <a:schemeClr val="tx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1059</TotalTime>
  <Words>751</Words>
  <Application>Microsoft Office PowerPoint</Application>
  <PresentationFormat>Affichage à l'écran (16:9)</PresentationFormat>
  <Paragraphs>61</Paragraphs>
  <Slides>12</Slides>
  <Notes>12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Arial</vt:lpstr>
      <vt:lpstr>Wingdings</vt:lpstr>
      <vt:lpstr>Montserrat</vt:lpstr>
      <vt:lpstr>Simple Light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cp:lastModifiedBy>Tharinyan PATHMANATHAN</cp:lastModifiedBy>
  <cp:revision>42</cp:revision>
  <dcterms:modified xsi:type="dcterms:W3CDTF">2025-01-29T22:46:34Z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6a12554-321c-45c3-b2fd-7e3f55c509d9_Enabled">
    <vt:lpwstr>true</vt:lpwstr>
  </property>
  <property fmtid="{D5CDD505-2E9C-101B-9397-08002B2CF9AE}" pid="3" name="MSIP_Label_56a12554-321c-45c3-b2fd-7e3f55c509d9_SetDate">
    <vt:lpwstr>2025-01-13T13:35:36Z</vt:lpwstr>
  </property>
  <property fmtid="{D5CDD505-2E9C-101B-9397-08002B2CF9AE}" pid="4" name="MSIP_Label_56a12554-321c-45c3-b2fd-7e3f55c509d9_Method">
    <vt:lpwstr>Privileged</vt:lpwstr>
  </property>
  <property fmtid="{D5CDD505-2E9C-101B-9397-08002B2CF9AE}" pid="5" name="MSIP_Label_56a12554-321c-45c3-b2fd-7e3f55c509d9_Name">
    <vt:lpwstr>56a12554-321c-45c3-b2fd-7e3f55c509d9</vt:lpwstr>
  </property>
  <property fmtid="{D5CDD505-2E9C-101B-9397-08002B2CF9AE}" pid="6" name="MSIP_Label_56a12554-321c-45c3-b2fd-7e3f55c509d9_SiteId">
    <vt:lpwstr>614f9c25-bffa-42c7-86d8-964101f55fa2</vt:lpwstr>
  </property>
  <property fmtid="{D5CDD505-2E9C-101B-9397-08002B2CF9AE}" pid="7" name="MSIP_Label_56a12554-321c-45c3-b2fd-7e3f55c509d9_ActionId">
    <vt:lpwstr>ed418cd6-8ab9-4f06-adbc-4697ba1b7141</vt:lpwstr>
  </property>
  <property fmtid="{D5CDD505-2E9C-101B-9397-08002B2CF9AE}" pid="8" name="MSIP_Label_56a12554-321c-45c3-b2fd-7e3f55c509d9_ContentBits">
    <vt:lpwstr>0</vt:lpwstr>
  </property>
</Properties>
</file>