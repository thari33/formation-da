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omments/modernComment_105_0.xml" ContentType="application/vnd.ms-powerpoint.comment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2" r:id="rId16"/>
    <p:sldId id="271" r:id="rId17"/>
  </p:sldIdLst>
  <p:sldSz cx="12192000" cy="6858000"/>
  <p:notesSz cx="6858000" cy="9144000"/>
  <p:embeddedFontLs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Century Gothic" panose="020B0502020202020204" pitchFamily="3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irjfFyYNBG5sNntC35Cbhoqt17Cg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6BE6555-F699-6CA5-7B50-4968580AD10E}" name="Tharinyan PATHMANATHAN" initials="TP" userId="Tharinyan PATHMANATHAN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comments/modernComment_105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AF20888-E2EE-4A3A-99CF-45C3DD9F1148}" authorId="{A6BE6555-F699-6CA5-7B50-4968580AD10E}" created="2024-08-27T16:49:58.522">
    <pc:sldMkLst xmlns:pc="http://schemas.microsoft.com/office/powerpoint/2013/main/command">
      <pc:docMk/>
      <pc:sldMk cId="0" sldId="261"/>
    </pc:sldMkLst>
    <p188:txBody>
      <a:bodyPr/>
      <a:lstStyle/>
      <a:p>
        <a:r>
          <a:rPr lang="fr-FR"/>
          <a:t>Meme chose ratio personne nourrie veg / pop mondiale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fr-F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‹N°›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8" name="Google Shape;11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FR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8" name="Google Shape;12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5" name="Google Shape;13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3" name="Google Shape;14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0" name="Google Shape;15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4" name="Google Shape;16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2" name="Google Shape;17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6" name="Google Shape;18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233f607d43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3" name="Google Shape;193;g2233f607d4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0" name="Google Shape;20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7" name="Google Shape;20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4" name="Google Shape;21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8" name="Google Shape;22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/>
          <p:nvPr/>
        </p:nvSpPr>
        <p:spPr>
          <a:xfrm>
            <a:off x="0" y="-3175"/>
            <a:ext cx="12192000" cy="5203825"/>
          </a:xfrm>
          <a:custGeom>
            <a:avLst/>
            <a:gdLst/>
            <a:ahLst/>
            <a:cxnLst/>
            <a:rect l="l" t="t" r="r" b="b"/>
            <a:pathLst>
              <a:path w="5760" h="3278" extrusionOk="0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" name="Google Shape;17;p17"/>
          <p:cNvSpPr txBox="1"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5400"/>
              <a:buFont typeface="Century Gothic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7"/>
          <p:cNvSpPr txBox="1"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17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" name="Google Shape;24;p18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8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-tête de section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/>
          <p:nvPr/>
        </p:nvSpPr>
        <p:spPr>
          <a:xfrm>
            <a:off x="0" y="1"/>
            <a:ext cx="12192000" cy="5203825"/>
          </a:xfrm>
          <a:custGeom>
            <a:avLst/>
            <a:gdLst/>
            <a:ahLst/>
            <a:cxnLst/>
            <a:rect l="l" t="t" r="r" b="b"/>
            <a:pathLst>
              <a:path w="5760" h="3278" extrusionOk="0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" name="Google Shape;31;p19"/>
          <p:cNvSpPr txBox="1"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800"/>
              <a:buFont typeface="Century Gothic"/>
              <a:buNone/>
              <a:defRPr sz="48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9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9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ux contenus" type="twoObj">
  <p:cSld name="TWO_OBJECT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" name="Google Shape;38;p20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5185873" cy="36387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40" name="Google Shape;40;p20"/>
          <p:cNvSpPr txBox="1">
            <a:spLocks noGrp="1"/>
          </p:cNvSpPr>
          <p:nvPr>
            <p:ph type="body" idx="2"/>
          </p:nvPr>
        </p:nvSpPr>
        <p:spPr>
          <a:xfrm>
            <a:off x="6187415" y="2222287"/>
            <a:ext cx="5194583" cy="3638764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41" name="Google Shape;41;p20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0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1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" name="Google Shape;46;p21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 b="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body" idx="2"/>
          </p:nvPr>
        </p:nvSpPr>
        <p:spPr>
          <a:xfrm>
            <a:off x="814729" y="2751138"/>
            <a:ext cx="5189856" cy="310991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49" name="Google Shape;49;p21"/>
          <p:cNvSpPr txBox="1">
            <a:spLocks noGrp="1"/>
          </p:cNvSpPr>
          <p:nvPr>
            <p:ph type="body" idx="3"/>
          </p:nvPr>
        </p:nvSpPr>
        <p:spPr>
          <a:xfrm>
            <a:off x="6187415" y="2174875"/>
            <a:ext cx="5194583" cy="57626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 b="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21"/>
          <p:cNvSpPr txBox="1">
            <a:spLocks noGrp="1"/>
          </p:cNvSpPr>
          <p:nvPr>
            <p:ph type="body" idx="4"/>
          </p:nvPr>
        </p:nvSpPr>
        <p:spPr>
          <a:xfrm>
            <a:off x="6187415" y="2751138"/>
            <a:ext cx="5194583" cy="310991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51" name="Google Shape;51;p21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1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1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uniquement" type="titleOnly">
  <p:cSld name="TITLE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" name="Google Shape;56;p22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2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2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3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3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3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 avec légende" type="objTx">
  <p:cSld name="OBJECT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4"/>
          <p:cNvSpPr/>
          <p:nvPr/>
        </p:nvSpPr>
        <p:spPr>
          <a:xfrm>
            <a:off x="1073151" y="446087"/>
            <a:ext cx="3547533" cy="1814651"/>
          </a:xfrm>
          <a:custGeom>
            <a:avLst/>
            <a:gdLst/>
            <a:ahLst/>
            <a:cxnLst/>
            <a:rect l="l" t="t" r="r" b="b"/>
            <a:pathLst>
              <a:path w="3384" h="2308" extrusionOk="0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" name="Google Shape;66;p24"/>
          <p:cNvSpPr txBox="1"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000"/>
              <a:buFont typeface="Century Gothic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body" idx="1"/>
          </p:nvPr>
        </p:nvSpPr>
        <p:spPr>
          <a:xfrm>
            <a:off x="4855633" y="446088"/>
            <a:ext cx="6252633" cy="54149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68" name="Google Shape;68;p24"/>
          <p:cNvSpPr txBox="1">
            <a:spLocks noGrp="1"/>
          </p:cNvSpPr>
          <p:nvPr>
            <p:ph type="body" idx="2"/>
          </p:nvPr>
        </p:nvSpPr>
        <p:spPr>
          <a:xfrm>
            <a:off x="1073151" y="2260738"/>
            <a:ext cx="3547533" cy="36003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24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4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4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vec légende" type="picTx">
  <p:cSld name="PICTURE_WITH_CAPTION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"/>
          <p:cNvSpPr txBox="1"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Century Gothic"/>
              <a:buNone/>
              <a:defRPr sz="24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5"/>
          <p:cNvSpPr>
            <a:spLocks noGrp="1"/>
          </p:cNvSpPr>
          <p:nvPr>
            <p:ph type="pic" idx="2"/>
          </p:nvPr>
        </p:nvSpPr>
        <p:spPr>
          <a:xfrm>
            <a:off x="6098117" y="0"/>
            <a:ext cx="6093883" cy="68580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>
              <a:srgbClr val="000000">
                <a:alpha val="40000"/>
              </a:srgbClr>
            </a:outerShdw>
          </a:effectLst>
        </p:spPr>
      </p:sp>
      <p:sp>
        <p:nvSpPr>
          <p:cNvPr id="75" name="Google Shape;75;p25"/>
          <p:cNvSpPr txBox="1">
            <a:spLocks noGrp="1"/>
          </p:cNvSpPr>
          <p:nvPr>
            <p:ph type="body" idx="1"/>
          </p:nvPr>
        </p:nvSpPr>
        <p:spPr>
          <a:xfrm>
            <a:off x="814728" y="2344684"/>
            <a:ext cx="4852988" cy="351636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dt" idx="10"/>
          </p:nvPr>
        </p:nvSpPr>
        <p:spPr>
          <a:xfrm>
            <a:off x="3885810" y="6041362"/>
            <a:ext cx="97687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5"/>
          <p:cNvSpPr txBox="1">
            <a:spLocks noGrp="1"/>
          </p:cNvSpPr>
          <p:nvPr>
            <p:ph type="ftr" idx="11"/>
          </p:nvPr>
        </p:nvSpPr>
        <p:spPr>
          <a:xfrm>
            <a:off x="590396" y="6041362"/>
            <a:ext cx="32954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5"/>
          <p:cNvSpPr txBox="1">
            <a:spLocks noGrp="1"/>
          </p:cNvSpPr>
          <p:nvPr>
            <p:ph type="sldNum" idx="12"/>
          </p:nvPr>
        </p:nvSpPr>
        <p:spPr>
          <a:xfrm>
            <a:off x="4862689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panoramique avec légende">
  <p:cSld name="Image panoramique avec légende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6"/>
          <p:cNvSpPr txBox="1"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Century Gothic"/>
              <a:buNone/>
              <a:defRPr sz="24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6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4800600"/>
          </a:xfrm>
          <a:prstGeom prst="rect">
            <a:avLst/>
          </a:prstGeom>
          <a:noFill/>
          <a:ln w="9525" cap="rnd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>
              <a:srgbClr val="000000">
                <a:alpha val="40000"/>
              </a:srgbClr>
            </a:outerShdw>
          </a:effectLst>
        </p:spPr>
      </p:sp>
      <p:sp>
        <p:nvSpPr>
          <p:cNvPr id="82" name="Google Shape;82;p26"/>
          <p:cNvSpPr txBox="1">
            <a:spLocks noGrp="1"/>
          </p:cNvSpPr>
          <p:nvPr>
            <p:ph type="body" idx="1"/>
          </p:nvPr>
        </p:nvSpPr>
        <p:spPr>
          <a:xfrm>
            <a:off x="810000" y="5367338"/>
            <a:ext cx="10561418" cy="49371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3" name="Google Shape;83;p26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6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6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itation avec légende">
  <p:cSld name="Citation avec légende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7"/>
          <p:cNvSpPr/>
          <p:nvPr/>
        </p:nvSpPr>
        <p:spPr>
          <a:xfrm>
            <a:off x="631697" y="1081456"/>
            <a:ext cx="6332416" cy="3239188"/>
          </a:xfrm>
          <a:custGeom>
            <a:avLst/>
            <a:gdLst/>
            <a:ahLst/>
            <a:cxnLst/>
            <a:rect l="l" t="t" r="r" b="b"/>
            <a:pathLst>
              <a:path w="3384" h="2308" extrusionOk="0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27"/>
          <p:cNvSpPr txBox="1"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200"/>
              <a:buFont typeface="Century Gothic"/>
              <a:buNone/>
              <a:defRPr sz="42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7"/>
          <p:cNvSpPr txBox="1"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0" name="Google Shape;90;p27"/>
          <p:cNvSpPr txBox="1">
            <a:spLocks noGrp="1"/>
          </p:cNvSpPr>
          <p:nvPr>
            <p:ph type="body" idx="2"/>
          </p:nvPr>
        </p:nvSpPr>
        <p:spPr>
          <a:xfrm>
            <a:off x="7574642" y="1081456"/>
            <a:ext cx="3810001" cy="407546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Century Gothic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91" name="Google Shape;91;p27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7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7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te de nom">
  <p:cSld name="Carte de nom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8"/>
          <p:cNvSpPr/>
          <p:nvPr/>
        </p:nvSpPr>
        <p:spPr>
          <a:xfrm>
            <a:off x="1140884" y="2286585"/>
            <a:ext cx="4895115" cy="2503972"/>
          </a:xfrm>
          <a:custGeom>
            <a:avLst/>
            <a:gdLst/>
            <a:ahLst/>
            <a:cxnLst/>
            <a:rect l="l" t="t" r="r" b="b"/>
            <a:pathLst>
              <a:path w="3384" h="2308" extrusionOk="0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p28"/>
          <p:cNvSpPr txBox="1"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8"/>
          <p:cNvSpPr txBox="1">
            <a:spLocks noGrp="1"/>
          </p:cNvSpPr>
          <p:nvPr>
            <p:ph type="body" idx="1"/>
          </p:nvPr>
        </p:nvSpPr>
        <p:spPr>
          <a:xfrm>
            <a:off x="6156000" y="2286000"/>
            <a:ext cx="4880300" cy="229552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Century Gothic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98" name="Google Shape;98;p28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8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8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texte vertical" type="vertTx">
  <p:cSld name="VERTICAL_TEX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9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29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9"/>
          <p:cNvSpPr txBox="1">
            <a:spLocks noGrp="1"/>
          </p:cNvSpPr>
          <p:nvPr>
            <p:ph type="body" idx="1"/>
          </p:nvPr>
        </p:nvSpPr>
        <p:spPr>
          <a:xfrm rot="5400000">
            <a:off x="4254444" y="-1260043"/>
            <a:ext cx="3674397" cy="1056328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105" name="Google Shape;105;p29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9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9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vertical et texte" type="vertTitleAndTx">
  <p:cSld name="VERTICAL_TITLE_AND_VERTICAL_TEXT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0"/>
          <p:cNvSpPr/>
          <p:nvPr/>
        </p:nvSpPr>
        <p:spPr>
          <a:xfrm>
            <a:off x="7669651" y="446089"/>
            <a:ext cx="4522349" cy="5414962"/>
          </a:xfrm>
          <a:custGeom>
            <a:avLst/>
            <a:gdLst/>
            <a:ahLst/>
            <a:cxnLst/>
            <a:rect l="l" t="t" r="r" b="b"/>
            <a:pathLst>
              <a:path w="2879" h="4320" extrusionOk="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p30"/>
          <p:cNvSpPr txBox="1">
            <a:spLocks noGrp="1"/>
          </p:cNvSpPr>
          <p:nvPr>
            <p:ph type="title"/>
          </p:nvPr>
        </p:nvSpPr>
        <p:spPr>
          <a:xfrm rot="5400000">
            <a:off x="6863536" y="1906175"/>
            <a:ext cx="5134798" cy="249479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30"/>
          <p:cNvSpPr txBox="1">
            <a:spLocks noGrp="1"/>
          </p:cNvSpPr>
          <p:nvPr>
            <p:ph type="body" idx="1"/>
          </p:nvPr>
        </p:nvSpPr>
        <p:spPr>
          <a:xfrm rot="5400000">
            <a:off x="1408290" y="-152200"/>
            <a:ext cx="5414962" cy="661154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112" name="Google Shape;112;p30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30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30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  <a:defRPr sz="4000" b="1" i="0" u="none" strike="noStrike" cap="non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🞆"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🞆"/>
              <a:defRPr sz="16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🞆"/>
              <a:def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ao.org/faostat/fr/#data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5_0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"/>
          <p:cNvSpPr/>
          <p:nvPr/>
        </p:nvSpPr>
        <p:spPr>
          <a:xfrm>
            <a:off x="97653" y="0"/>
            <a:ext cx="1209434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1" name="Google Shape;121;p1"/>
          <p:cNvSpPr/>
          <p:nvPr/>
        </p:nvSpPr>
        <p:spPr>
          <a:xfrm rot="-5400000">
            <a:off x="-650724" y="650724"/>
            <a:ext cx="6858000" cy="5556552"/>
          </a:xfrm>
          <a:custGeom>
            <a:avLst/>
            <a:gdLst/>
            <a:ahLst/>
            <a:cxnLst/>
            <a:rect l="l" t="t" r="r" b="b"/>
            <a:pathLst>
              <a:path w="6858000" h="5556552" extrusionOk="0">
                <a:moveTo>
                  <a:pt x="6858000" y="3445704"/>
                </a:moveTo>
                <a:lnTo>
                  <a:pt x="3829242" y="5433322"/>
                </a:lnTo>
                <a:lnTo>
                  <a:pt x="3827369" y="5434867"/>
                </a:lnTo>
                <a:lnTo>
                  <a:pt x="3824583" y="5436378"/>
                </a:lnTo>
                <a:lnTo>
                  <a:pt x="3798693" y="5453370"/>
                </a:lnTo>
                <a:lnTo>
                  <a:pt x="3785011" y="5457858"/>
                </a:lnTo>
                <a:lnTo>
                  <a:pt x="3706339" y="5500559"/>
                </a:lnTo>
                <a:cubicBezTo>
                  <a:pt x="3621096" y="5536614"/>
                  <a:pt x="3527375" y="5556552"/>
                  <a:pt x="3428998" y="5556552"/>
                </a:cubicBezTo>
                <a:cubicBezTo>
                  <a:pt x="3330621" y="5556552"/>
                  <a:pt x="3236901" y="5536614"/>
                  <a:pt x="3151658" y="5500559"/>
                </a:cubicBezTo>
                <a:lnTo>
                  <a:pt x="3072996" y="5457863"/>
                </a:lnTo>
                <a:lnTo>
                  <a:pt x="3059298" y="5453370"/>
                </a:lnTo>
                <a:lnTo>
                  <a:pt x="3033383" y="5436362"/>
                </a:lnTo>
                <a:lnTo>
                  <a:pt x="3030627" y="5434867"/>
                </a:lnTo>
                <a:lnTo>
                  <a:pt x="3028775" y="5433338"/>
                </a:lnTo>
                <a:lnTo>
                  <a:pt x="0" y="3445704"/>
                </a:lnTo>
                <a:close/>
                <a:moveTo>
                  <a:pt x="6858000" y="0"/>
                </a:moveTo>
                <a:lnTo>
                  <a:pt x="6858000" y="349336"/>
                </a:lnTo>
                <a:lnTo>
                  <a:pt x="6858000" y="3445703"/>
                </a:lnTo>
                <a:lnTo>
                  <a:pt x="0" y="3445703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"/>
          <p:cNvSpPr txBox="1">
            <a:spLocks noGrp="1"/>
          </p:cNvSpPr>
          <p:nvPr>
            <p:ph type="subTitle" idx="1"/>
          </p:nvPr>
        </p:nvSpPr>
        <p:spPr>
          <a:xfrm>
            <a:off x="643466" y="2281574"/>
            <a:ext cx="3994015" cy="229485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fr-FR" sz="2800"/>
              <a:t>Julien Laole</a:t>
            </a:r>
            <a:endParaRPr sz="2800"/>
          </a:p>
          <a:p>
            <a:pPr marL="0" lvl="0" indent="0" algn="ctr" rtl="0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2800"/>
              <a:buNone/>
            </a:pPr>
            <a:r>
              <a:rPr lang="fr-FR" sz="2800"/>
              <a:t>FAO</a:t>
            </a:r>
            <a:endParaRPr/>
          </a:p>
        </p:txBody>
      </p:sp>
      <p:sp>
        <p:nvSpPr>
          <p:cNvPr id="123" name="Google Shape;123;p1"/>
          <p:cNvSpPr txBox="1">
            <a:spLocks noGrp="1"/>
          </p:cNvSpPr>
          <p:nvPr>
            <p:ph type="ctrTitle"/>
          </p:nvPr>
        </p:nvSpPr>
        <p:spPr>
          <a:xfrm>
            <a:off x="5803899" y="122751"/>
            <a:ext cx="5452533" cy="3306249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400"/>
              <a:buFont typeface="Century Gothic"/>
              <a:buNone/>
            </a:pPr>
            <a:r>
              <a:rPr lang="fr-FR" sz="4400"/>
              <a:t>Étude sur l’alimentation dans le monde</a:t>
            </a:r>
            <a:endParaRPr/>
          </a:p>
        </p:txBody>
      </p:sp>
      <p:pic>
        <p:nvPicPr>
          <p:cNvPr id="3076" name="Picture 4" descr="Résultat d’images pour sous nutrition photo">
            <a:extLst>
              <a:ext uri="{FF2B5EF4-FFF2-40B4-BE49-F238E27FC236}">
                <a16:creationId xmlns:a16="http://schemas.microsoft.com/office/drawing/2014/main" id="{B1C3395A-C04E-40D0-8379-D926FBE670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8418" y="4511433"/>
            <a:ext cx="2706789" cy="15241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fr-FR" sz="3200"/>
              <a:t>Contexte et spécification des données</a:t>
            </a:r>
            <a:endParaRPr sz="3200"/>
          </a:p>
        </p:txBody>
      </p:sp>
      <p:sp>
        <p:nvSpPr>
          <p:cNvPr id="131" name="Google Shape;131;p2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728246" cy="418852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/>
          <a:p>
            <a:pPr marL="3429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2800" dirty="0"/>
              <a:t>Nous menons une étude de grande ampleur sur le thème de l’alimentation et en particulier la sous nutrition dans le monde.</a:t>
            </a:r>
          </a:p>
          <a:p>
            <a:pPr marL="3429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sz="2800" dirty="0"/>
          </a:p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2800" dirty="0"/>
              <a:t>Pour ce faire nous disposions des données par la FAO, Organisation des Nations unies pour l’alimentation et l’agriculture(Source </a:t>
            </a:r>
            <a:r>
              <a:rPr lang="fr-FR" sz="2800" dirty="0">
                <a:hlinkClick r:id="rId3"/>
              </a:rPr>
              <a:t>FAOSTAT</a:t>
            </a:r>
            <a:r>
              <a:rPr lang="fr-FR" sz="2800" dirty="0"/>
              <a:t>)</a:t>
            </a:r>
          </a:p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sz="2800" dirty="0"/>
          </a:p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2800" dirty="0"/>
              <a:t>- La disponibilité alimentaire</a:t>
            </a:r>
          </a:p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2800" dirty="0"/>
              <a:t>- L’aide alimentaire</a:t>
            </a:r>
          </a:p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2800" dirty="0"/>
              <a:t>- La population mondiale</a:t>
            </a:r>
          </a:p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2800" dirty="0"/>
              <a:t>- la sous nutrition mondiale</a:t>
            </a:r>
            <a:endParaRPr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fr-FR" sz="3200"/>
              <a:t>Méthodologie de l’analyse</a:t>
            </a:r>
            <a:endParaRPr sz="3200"/>
          </a:p>
        </p:txBody>
      </p:sp>
      <p:sp>
        <p:nvSpPr>
          <p:cNvPr id="138" name="Google Shape;138;p3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r>
              <a:rPr lang="fr-FR" sz="2600" dirty="0"/>
              <a:t>Pour mener mon analyse, j’ai importé les données à ma disposition dans Notebook et exploiter celles-ci en interrogeant les informations nécessaires comme le nombre de personne pouvant être nourries ou la proportion de sous-alimenté par pays.</a:t>
            </a:r>
          </a:p>
          <a:p>
            <a: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r>
              <a:rPr lang="fr-FR" sz="2600" dirty="0"/>
              <a:t>La RGPD est respecté car les données proviennent d’un site officiel et libre d’accès au grand public, et sans information </a:t>
            </a:r>
            <a:r>
              <a:rPr lang="fr-FR" sz="2600" dirty="0" err="1"/>
              <a:t>personelle</a:t>
            </a:r>
            <a:r>
              <a:rPr lang="fr-FR" sz="2600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1) Proportion de personnes en état de sous-nutrition en 2017</a:t>
            </a:r>
            <a:endParaRPr sz="3200"/>
          </a:p>
        </p:txBody>
      </p:sp>
      <p:sp>
        <p:nvSpPr>
          <p:cNvPr id="146" name="Google Shape;146;p4"/>
          <p:cNvSpPr txBox="1">
            <a:spLocks noGrp="1"/>
          </p:cNvSpPr>
          <p:nvPr>
            <p:ph type="body" idx="1"/>
          </p:nvPr>
        </p:nvSpPr>
        <p:spPr>
          <a:xfrm>
            <a:off x="818711" y="2222287"/>
            <a:ext cx="4431205" cy="332422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2600" dirty="0"/>
              <a:t>Le nombre de personne en sous nutrition est de 535 700 000 dans le monde, ce qui représente 7,10% de la population mondiale en 2017</a:t>
            </a:r>
            <a:endParaRPr sz="2600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5BC167DF-B5DF-7CED-CB4D-17F6C5DE16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0811" y="2222287"/>
            <a:ext cx="6000750" cy="33242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2) Nombre théorique de personnes qui pourraient être nourries en 2017</a:t>
            </a:r>
            <a:endParaRPr sz="3200"/>
          </a:p>
        </p:txBody>
      </p:sp>
      <p:sp>
        <p:nvSpPr>
          <p:cNvPr id="153" name="Google Shape;153;p5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2800" dirty="0"/>
              <a:t>Il est nécessaire de consommer en moyenne 2400 Kcal/jour, Source (site </a:t>
            </a:r>
            <a:r>
              <a:rPr lang="fr-FR" sz="2800" dirty="0" err="1"/>
              <a:t>nutriandco</a:t>
            </a:r>
            <a:r>
              <a:rPr lang="fr-FR" sz="2800" dirty="0"/>
              <a:t>).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sz="28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2800" dirty="0"/>
              <a:t>Nous pouvions nourrir près de </a:t>
            </a:r>
            <a:r>
              <a:rPr lang="fr-FR" altLang="fr-FR" sz="2800" dirty="0"/>
              <a:t>8,7 Milliards de personnes par jour, ce qui revient à plus que l’ensemble mondiale en 2017 qui était de 7,6 milliards soit 116,21%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sz="28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3) Nombre théorique de personnes qui pourraient être nourries uniquement avec les végétaux en 2017</a:t>
            </a:r>
            <a:endParaRPr/>
          </a:p>
        </p:txBody>
      </p:sp>
      <p:sp>
        <p:nvSpPr>
          <p:cNvPr id="160" name="Google Shape;160;p6"/>
          <p:cNvSpPr txBox="1">
            <a:spLocks noGrp="1"/>
          </p:cNvSpPr>
          <p:nvPr>
            <p:ph type="body" idx="1"/>
          </p:nvPr>
        </p:nvSpPr>
        <p:spPr>
          <a:xfrm>
            <a:off x="740809" y="2257798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2800" dirty="0"/>
              <a:t>Nous pouvions nourrir plus de 7,2 milliards de personnes dans le monde avec des produits végétaux, soit 94,74% de la population mondiale de 2017.</a:t>
            </a:r>
            <a:endParaRPr sz="2800" dirty="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4) Répartition de la disponibilité intérieure</a:t>
            </a:r>
            <a:endParaRPr/>
          </a:p>
        </p:txBody>
      </p:sp>
      <p:sp>
        <p:nvSpPr>
          <p:cNvPr id="167" name="Google Shape;167;p7"/>
          <p:cNvSpPr txBox="1">
            <a:spLocks noGrp="1"/>
          </p:cNvSpPr>
          <p:nvPr>
            <p:ph type="body" idx="1"/>
          </p:nvPr>
        </p:nvSpPr>
        <p:spPr>
          <a:xfrm>
            <a:off x="61993" y="2274830"/>
            <a:ext cx="6998026" cy="413598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-FR" sz="2800" dirty="0"/>
              <a:t>Voici la répartition de la disponibilité intérieure qui regroupe les semences, les pertes, la nourriture (humaine),les aliments pour animaux, le traitement et les autres utilisations.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fr-FR" sz="2800"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fr-FR" sz="1000" dirty="0">
                <a:solidFill>
                  <a:schemeClr val="bg1"/>
                </a:solidFill>
              </a:rPr>
              <a:t>Source FAO: </a:t>
            </a:r>
            <a:r>
              <a:rPr lang="fr-FR" sz="1000" b="0" i="0" u="none" strike="noStrike" cap="none" dirty="0">
                <a:solidFill>
                  <a:schemeClr val="bg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Production + Importations - Exportations + Variation de stock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fr-FR" sz="1000" b="0" i="0" u="none" strike="noStrike" cap="none" dirty="0">
                <a:solidFill>
                  <a:schemeClr val="bg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=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fr-FR" sz="1000" b="0" i="0" u="none" strike="noStrike" cap="none" dirty="0">
                <a:solidFill>
                  <a:schemeClr val="bg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Disponibilité intérieure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fr-FR" sz="1000" b="0" i="0" u="none" strike="noStrike" cap="none" dirty="0">
                <a:solidFill>
                  <a:schemeClr val="bg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=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fr-FR" sz="1000" i="0" u="none" strike="noStrike" cap="none" dirty="0">
                <a:solidFill>
                  <a:schemeClr val="bg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Semences + Pertes + Nourriture + Aliments pour animaux + Traitement + Autres utilisations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fr-FR" sz="28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AC0D6558-753D-FE72-1B54-A7E2187E49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3207" y="2027574"/>
            <a:ext cx="4876800" cy="36671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5) Part de l’utilisation des principales céréales entre l’alimentation humaine et animale</a:t>
            </a:r>
            <a:endParaRPr/>
          </a:p>
        </p:txBody>
      </p:sp>
      <p:sp>
        <p:nvSpPr>
          <p:cNvPr id="175" name="Google Shape;175;p8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2800" dirty="0"/>
              <a:t>La proportion d’utilisation des céréales de la disponibilité intérieure est de 35,91% pour les animaux et 43,02% pour la nourriture des humains.</a:t>
            </a:r>
            <a:endParaRPr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 dirty="0"/>
              <a:t>6) Liste des 10 pays où la proportion de personnes en état de sous-nutrition est la plus forte en </a:t>
            </a:r>
            <a:r>
              <a:rPr lang="fr-FR" sz="3200" dirty="0">
                <a:solidFill>
                  <a:schemeClr val="lt1"/>
                </a:solidFill>
              </a:rPr>
              <a:t>2017</a:t>
            </a:r>
            <a:endParaRPr dirty="0"/>
          </a:p>
        </p:txBody>
      </p:sp>
      <p:sp>
        <p:nvSpPr>
          <p:cNvPr id="182" name="Google Shape;182;p9"/>
          <p:cNvSpPr txBox="1">
            <a:spLocks noGrp="1"/>
          </p:cNvSpPr>
          <p:nvPr>
            <p:ph type="body" idx="1"/>
          </p:nvPr>
        </p:nvSpPr>
        <p:spPr>
          <a:xfrm>
            <a:off x="419099" y="2222286"/>
            <a:ext cx="3979480" cy="4188526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2800" dirty="0"/>
              <a:t>Voici les 10 pays ou la proportion de personnes en sous nutrition par rapport à la population locale est sont les plus fortes en 2017.</a:t>
            </a:r>
            <a:endParaRPr sz="28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2F5B328-7324-60FB-B96F-C69160318A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9896" y="1417639"/>
            <a:ext cx="7400853" cy="544036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7) Liste des 10 pays qui ont le plus bénéficié de l’aide alimentaire entre 2013 et 2016</a:t>
            </a:r>
            <a:endParaRPr/>
          </a:p>
        </p:txBody>
      </p:sp>
      <p:sp>
        <p:nvSpPr>
          <p:cNvPr id="189" name="Google Shape;189;p10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4578676" cy="3919568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2800" dirty="0"/>
              <a:t>Voici les dix pays qui ont bénéficié le plus de l’aide alimentaire entre 2013 et 2016 (tout aliment confondu en KG)</a:t>
            </a:r>
            <a:endParaRPr sz="2800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5FD24518-C88F-0A4E-1141-925A7C0E15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8981" y="2222287"/>
            <a:ext cx="5553017" cy="363498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233f607d43_0_0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8) Évolution de l’aide alimentaire pour les 5 pays qui en ont le plus bénéficié entre 2013 et 2016</a:t>
            </a:r>
            <a:endParaRPr/>
          </a:p>
        </p:txBody>
      </p:sp>
      <p:sp>
        <p:nvSpPr>
          <p:cNvPr id="196" name="Google Shape;196;g2233f607d43_0_0"/>
          <p:cNvSpPr txBox="1">
            <a:spLocks noGrp="1"/>
          </p:cNvSpPr>
          <p:nvPr>
            <p:ph type="body" idx="1"/>
          </p:nvPr>
        </p:nvSpPr>
        <p:spPr>
          <a:xfrm>
            <a:off x="818711" y="2222287"/>
            <a:ext cx="3677787" cy="3297669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dirty="0"/>
              <a:t>Ethiopie, Soudan, Soudan du sud et la république arabe syrienne ont une courbe descendante.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dirty="0"/>
              <a:t>Tandis que le Yémen est croissant après une chute en 2014.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13D13688-C27E-4B19-ED8D-B5ED505FC4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956" y="2138397"/>
            <a:ext cx="6989012" cy="338155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9) Liste des 10 pays qui ont la plus forte disponibilité alimentaire par habitant</a:t>
            </a:r>
            <a:endParaRPr sz="320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2EA31A07-D314-BB0E-49C6-91C05AFAE9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8462" y="2123157"/>
            <a:ext cx="5895146" cy="422352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2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9) Liste des 10 pays qui ont la plus faible disponibilité alimentaire par habitant</a:t>
            </a:r>
            <a:endParaRPr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FA5B1755-3199-9E21-F41E-178A64A608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7058" y="2130009"/>
            <a:ext cx="6631891" cy="419873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3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10) Étude sur le manioc en Thaïlande</a:t>
            </a:r>
            <a:endParaRPr/>
          </a:p>
        </p:txBody>
      </p:sp>
      <p:sp>
        <p:nvSpPr>
          <p:cNvPr id="217" name="Google Shape;217;p13"/>
          <p:cNvSpPr txBox="1">
            <a:spLocks noGrp="1"/>
          </p:cNvSpPr>
          <p:nvPr>
            <p:ph type="body" idx="1"/>
          </p:nvPr>
        </p:nvSpPr>
        <p:spPr>
          <a:xfrm>
            <a:off x="457168" y="2403148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285750" indent="-285750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fr-FR" sz="2400" dirty="0"/>
              <a:t>La part de la sous nutrition en Thaïlande représente 8,96% soit 6 200 000 de personnes pour 69 209 810 d’habitants en 2017.</a:t>
            </a:r>
          </a:p>
          <a:p>
            <a:pPr marL="285750" indent="-285750">
              <a:spcBef>
                <a:spcPts val="0"/>
              </a:spcBef>
              <a:buFont typeface="Wingdings" panose="05000000000000000000" pitchFamily="2" charset="2"/>
              <a:buChar char="§"/>
            </a:pPr>
            <a:endParaRPr lang="fr-FR" dirty="0"/>
          </a:p>
          <a:p>
            <a:pPr marL="285750" indent="-285750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fr-FR" sz="2400" dirty="0"/>
              <a:t>Le manioc a été produit à hauteur 30 228 000 kg/an et a été exporté à hauteur de 25 214 000 kg/an, ce qui conduit à un ratio d’export à 83,41%, en parallèle la Thaïlande a importé 1 250 000, ce qui fausse le rapport production/export.</a:t>
            </a:r>
          </a:p>
          <a:p>
            <a:pPr marL="285750" indent="-285750">
              <a:spcBef>
                <a:spcPts val="0"/>
              </a:spcBef>
              <a:buFont typeface="Wingdings" panose="05000000000000000000" pitchFamily="2" charset="2"/>
              <a:buChar char="§"/>
            </a:pPr>
            <a:endParaRPr lang="fr-FR" sz="2400" dirty="0"/>
          </a:p>
          <a:p>
            <a:pPr marL="285750" indent="-285750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fr-FR" sz="2400" dirty="0"/>
              <a:t>L’étude montre une disponibilité alimentaire de 2785Kcal par jour et par habitant produite en Thaïlande, largement suffisant pour subvenir au 2400Kcal/jour/personne.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251260-ABD3-A5B0-2BF1-BE5036235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4000" dirty="0"/>
              <a:t>11) Analyses complémentaires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2202181-23D1-66DF-966E-C716292CAF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8712" y="2222287"/>
            <a:ext cx="3166059" cy="3515783"/>
          </a:xfrm>
        </p:spPr>
        <p:txBody>
          <a:bodyPr/>
          <a:lstStyle/>
          <a:p>
            <a:pPr marL="114300" indent="0" algn="ctr">
              <a:buNone/>
            </a:pPr>
            <a:r>
              <a:rPr lang="fr-FR" dirty="0"/>
              <a:t>La variation de la sous nutrition sur les 5 pays ayant bénéficiées le plus d’aide alimentaire, ici ils nous les données de 3 pays (Rep arabe Syrienne, Soudan du sud et le </a:t>
            </a:r>
            <a:r>
              <a:rPr lang="fr-FR" dirty="0" err="1"/>
              <a:t>Yemen</a:t>
            </a:r>
            <a:r>
              <a:rPr lang="fr-FR" dirty="0"/>
              <a:t>)</a:t>
            </a:r>
          </a:p>
          <a:p>
            <a:pPr marL="114300" indent="0" algn="ctr">
              <a:buNone/>
            </a:pPr>
            <a:r>
              <a:rPr lang="fr-FR" dirty="0"/>
              <a:t>La sous nutrition a stagné pour les 2 autres pays malgré une baisse de </a:t>
            </a:r>
            <a:r>
              <a:rPr lang="fr-FR"/>
              <a:t>l’aide alimentaire.</a:t>
            </a:r>
            <a:endParaRPr lang="fr-FR" dirty="0"/>
          </a:p>
          <a:p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66DB0FDD-331D-015C-0ABD-9B3B817446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1024" y="2008932"/>
            <a:ext cx="7676797" cy="4314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1138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5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fr-FR"/>
              <a:t>Conclusion</a:t>
            </a:r>
            <a:endParaRPr/>
          </a:p>
        </p:txBody>
      </p:sp>
      <p:sp>
        <p:nvSpPr>
          <p:cNvPr id="231" name="Google Shape;231;p15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 fontScale="92500"/>
          </a:bodyPr>
          <a:lstStyle/>
          <a:p>
            <a:pPr marL="285750" indent="-285750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fr-FR" sz="2400" dirty="0"/>
              <a:t>Le problème de sous nutrition est complexe, il ne peut pas être résolu uniquement en équilibrant les ressources entre les pays.</a:t>
            </a:r>
          </a:p>
          <a:p>
            <a:pPr marL="285750" indent="-285750">
              <a:spcBef>
                <a:spcPts val="0"/>
              </a:spcBef>
              <a:buFont typeface="Wingdings" panose="05000000000000000000" pitchFamily="2" charset="2"/>
              <a:buChar char="§"/>
            </a:pPr>
            <a:endParaRPr lang="fr-FR" sz="2400" dirty="0"/>
          </a:p>
          <a:p>
            <a:pPr marL="285750" indent="-285750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fr-FR" sz="2400" dirty="0"/>
              <a:t>Voici quelques pistes d’analyse supplémentaires :</a:t>
            </a:r>
          </a:p>
          <a:p>
            <a:pPr marL="0" lvl="0" indent="0">
              <a:spcBef>
                <a:spcPts val="0"/>
              </a:spcBef>
              <a:buNone/>
              <a:tabLst>
                <a:tab pos="457200" algn="l"/>
              </a:tabLst>
            </a:pPr>
            <a:r>
              <a:rPr lang="fr-FR" sz="2400" dirty="0"/>
              <a:t>	● Identifier les produits les plus importants pour la sécurité alimentaire de chaque pays et région</a:t>
            </a:r>
          </a:p>
          <a:p>
            <a:pPr marL="0" lvl="0" indent="0">
              <a:spcBef>
                <a:spcPts val="0"/>
              </a:spcBef>
              <a:buNone/>
              <a:tabLst>
                <a:tab pos="457200" algn="l"/>
              </a:tabLst>
            </a:pPr>
            <a:r>
              <a:rPr lang="fr-FR" sz="2400" dirty="0"/>
              <a:t>	● Évaluer l’impact de la production animale sur la disponibilité alimentaire végétale</a:t>
            </a:r>
          </a:p>
          <a:p>
            <a:pPr marL="0" lvl="0" indent="0">
              <a:spcBef>
                <a:spcPts val="0"/>
              </a:spcBef>
              <a:buNone/>
              <a:tabLst>
                <a:tab pos="457200" algn="l"/>
              </a:tabLst>
            </a:pPr>
            <a:r>
              <a:rPr lang="fr-FR" sz="2400" dirty="0"/>
              <a:t>	● Explorer les relations entre la sous nutrition et d’autres indicateurs socio-économiques (PIB par habitant, indice de développement humain, etc.)</a:t>
            </a:r>
          </a:p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ntre guillemets">
  <a:themeElements>
    <a:clrScheme name="Quotable">
      <a:dk1>
        <a:srgbClr val="000000"/>
      </a:dk1>
      <a:lt1>
        <a:srgbClr val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25348</TotalTime>
  <Words>813</Words>
  <Application>Microsoft Office PowerPoint</Application>
  <PresentationFormat>Grand écran</PresentationFormat>
  <Paragraphs>59</Paragraphs>
  <Slides>16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2" baseType="lpstr">
      <vt:lpstr>Century Gothic</vt:lpstr>
      <vt:lpstr>Calibri</vt:lpstr>
      <vt:lpstr>Wingdings</vt:lpstr>
      <vt:lpstr>Noto Sans Symbols</vt:lpstr>
      <vt:lpstr>Arial</vt:lpstr>
      <vt:lpstr>Entre guillemets</vt:lpstr>
      <vt:lpstr>Étude sur l’alimentation dans le monde</vt:lpstr>
      <vt:lpstr>Contexte et spécification des données</vt:lpstr>
      <vt:lpstr>Méthodologie de l’analyse</vt:lpstr>
      <vt:lpstr>1) Proportion de personnes en état de sous-nutrition en 2017</vt:lpstr>
      <vt:lpstr>2) Nombre théorique de personnes qui pourraient être nourries en 2017</vt:lpstr>
      <vt:lpstr>3) Nombre théorique de personnes qui pourraient être nourries uniquement avec les végétaux en 2017</vt:lpstr>
      <vt:lpstr>4) Répartition de la disponibilité intérieure</vt:lpstr>
      <vt:lpstr>5) Part de l’utilisation des principales céréales entre l’alimentation humaine et animale</vt:lpstr>
      <vt:lpstr>6) Liste des 10 pays où la proportion de personnes en état de sous-nutrition est la plus forte en 2017</vt:lpstr>
      <vt:lpstr>7) Liste des 10 pays qui ont le plus bénéficié de l’aide alimentaire entre 2013 et 2016</vt:lpstr>
      <vt:lpstr>8) Évolution de l’aide alimentaire pour les 5 pays qui en ont le plus bénéficié entre 2013 et 2016</vt:lpstr>
      <vt:lpstr>9) Liste des 10 pays qui ont la plus forte disponibilité alimentaire par habitant</vt:lpstr>
      <vt:lpstr>9) Liste des 10 pays qui ont la plus faible disponibilité alimentaire par habitant</vt:lpstr>
      <vt:lpstr>10) Étude sur le manioc en Thaïlande</vt:lpstr>
      <vt:lpstr>11) Analyses complémentaires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Étude sur l’alimentation dans le monde</dc:title>
  <dc:creator>JeY jEy</dc:creator>
  <cp:lastModifiedBy>Tharinyan PATHMANATHAN</cp:lastModifiedBy>
  <cp:revision>24</cp:revision>
  <dcterms:created xsi:type="dcterms:W3CDTF">2023-03-17T20:58:30Z</dcterms:created>
  <dcterms:modified xsi:type="dcterms:W3CDTF">2024-09-03T14:38:05Z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SIP_Label_56a12554-321c-45c3-b2fd-7e3f55c509d9_Enabled">
    <vt:lpwstr>true</vt:lpwstr>
  </property>
  <property fmtid="{D5CDD505-2E9C-101B-9397-08002B2CF9AE}" pid="4" name="MSIP_Label_56a12554-321c-45c3-b2fd-7e3f55c509d9_SetDate">
    <vt:lpwstr>2024-08-09T08:04:50Z</vt:lpwstr>
  </property>
  <property fmtid="{D5CDD505-2E9C-101B-9397-08002B2CF9AE}" pid="5" name="MSIP_Label_56a12554-321c-45c3-b2fd-7e3f55c509d9_Method">
    <vt:lpwstr>Privileged</vt:lpwstr>
  </property>
  <property fmtid="{D5CDD505-2E9C-101B-9397-08002B2CF9AE}" pid="6" name="MSIP_Label_56a12554-321c-45c3-b2fd-7e3f55c509d9_Name">
    <vt:lpwstr>56a12554-321c-45c3-b2fd-7e3f55c509d9</vt:lpwstr>
  </property>
  <property fmtid="{D5CDD505-2E9C-101B-9397-08002B2CF9AE}" pid="7" name="MSIP_Label_56a12554-321c-45c3-b2fd-7e3f55c509d9_SiteId">
    <vt:lpwstr>614f9c25-bffa-42c7-86d8-964101f55fa2</vt:lpwstr>
  </property>
  <property fmtid="{D5CDD505-2E9C-101B-9397-08002B2CF9AE}" pid="8" name="MSIP_Label_56a12554-321c-45c3-b2fd-7e3f55c509d9_ActionId">
    <vt:lpwstr>cf0d9ce5-7760-4d50-93d8-306ee630f40d</vt:lpwstr>
  </property>
  <property fmtid="{D5CDD505-2E9C-101B-9397-08002B2CF9AE}" pid="9" name="MSIP_Label_56a12554-321c-45c3-b2fd-7e3f55c509d9_ContentBits">
    <vt:lpwstr>0</vt:lpwstr>
  </property>
</Properties>
</file>